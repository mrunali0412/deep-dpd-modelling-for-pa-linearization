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71" r:id="rId2"/>
    <p:sldId id="326" r:id="rId3"/>
    <p:sldId id="350" r:id="rId4"/>
    <p:sldId id="327" r:id="rId5"/>
    <p:sldId id="349" r:id="rId6"/>
    <p:sldId id="348" r:id="rId7"/>
    <p:sldId id="336" r:id="rId8"/>
    <p:sldId id="337" r:id="rId9"/>
    <p:sldId id="338" r:id="rId10"/>
    <p:sldId id="339" r:id="rId11"/>
    <p:sldId id="341" r:id="rId12"/>
    <p:sldId id="340" r:id="rId13"/>
    <p:sldId id="342" r:id="rId14"/>
    <p:sldId id="319" r:id="rId15"/>
    <p:sldId id="289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Hp" initials="H" lastIdx="1" clrIdx="0">
    <p:extLst>
      <p:ext uri="{19B8F6BF-5375-455C-9EA6-DF929625EA0E}">
        <p15:presenceInfo xmlns:p15="http://schemas.microsoft.com/office/powerpoint/2012/main" userId="Hp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882" autoAdjust="0"/>
    <p:restoredTop sz="94660"/>
  </p:normalViewPr>
  <p:slideViewPr>
    <p:cSldViewPr snapToGrid="0">
      <p:cViewPr varScale="1">
        <p:scale>
          <a:sx n="88" d="100"/>
          <a:sy n="88" d="100"/>
        </p:scale>
        <p:origin x="192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commentAuthors" Target="commentAuthors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7D44F83-09AC-4E58-A449-ABBCE647C358}" type="doc">
      <dgm:prSet loTypeId="urn:microsoft.com/office/officeart/2005/8/layout/process1" loCatId="process" qsTypeId="urn:microsoft.com/office/officeart/2005/8/quickstyle/simple1" qsCatId="simple" csTypeId="urn:microsoft.com/office/officeart/2005/8/colors/colorful4" csCatId="colorful" phldr="1"/>
      <dgm:spPr/>
      <dgm:t>
        <a:bodyPr/>
        <a:lstStyle/>
        <a:p>
          <a:endParaRPr lang="en-IN"/>
        </a:p>
      </dgm:t>
    </dgm:pt>
    <dgm:pt modelId="{15B1BEC2-9BF0-42EC-811A-5621A9D615F0}">
      <dgm:prSet phldrT="[Text]"/>
      <dgm:spPr>
        <a:solidFill>
          <a:srgbClr val="C00000"/>
        </a:solidFill>
      </dgm:spPr>
      <dgm:t>
        <a:bodyPr/>
        <a:lstStyle/>
        <a:p>
          <a:r>
            <a:rPr lang="en-US" dirty="0" smtClean="0"/>
            <a:t>I/P</a:t>
          </a:r>
          <a:endParaRPr lang="en-IN" dirty="0"/>
        </a:p>
      </dgm:t>
    </dgm:pt>
    <dgm:pt modelId="{FA316957-49BD-4C09-9FC0-DF81329AC9CA}" type="parTrans" cxnId="{3D65CD50-5842-466D-9822-CA00E00A44C9}">
      <dgm:prSet/>
      <dgm:spPr/>
      <dgm:t>
        <a:bodyPr/>
        <a:lstStyle/>
        <a:p>
          <a:endParaRPr lang="en-IN"/>
        </a:p>
      </dgm:t>
    </dgm:pt>
    <dgm:pt modelId="{F5E7B8E4-CDDF-4A21-92D7-D7C096ACCE8D}" type="sibTrans" cxnId="{3D65CD50-5842-466D-9822-CA00E00A44C9}">
      <dgm:prSet/>
      <dgm:spPr/>
      <dgm:t>
        <a:bodyPr/>
        <a:lstStyle/>
        <a:p>
          <a:r>
            <a:rPr lang="en-US" dirty="0" smtClean="0"/>
            <a:t>Linear signal</a:t>
          </a:r>
          <a:endParaRPr lang="en-IN" dirty="0"/>
        </a:p>
      </dgm:t>
    </dgm:pt>
    <dgm:pt modelId="{4FAD9946-33AB-45B6-928C-EA2086098B1D}">
      <dgm:prSet phldrT="[Text]"/>
      <dgm:spPr>
        <a:solidFill>
          <a:schemeClr val="accent2">
            <a:lumMod val="75000"/>
          </a:schemeClr>
        </a:solidFill>
      </dgm:spPr>
      <dgm:t>
        <a:bodyPr/>
        <a:lstStyle/>
        <a:p>
          <a:r>
            <a:rPr lang="en-US" dirty="0" smtClean="0"/>
            <a:t> NN DPD</a:t>
          </a:r>
          <a:endParaRPr lang="en-IN" dirty="0"/>
        </a:p>
      </dgm:t>
    </dgm:pt>
    <dgm:pt modelId="{DC9D56B0-399E-4DCB-8AFE-C14104D731C8}" type="parTrans" cxnId="{C7A55280-AECC-41D9-B781-C772CA51B509}">
      <dgm:prSet/>
      <dgm:spPr/>
      <dgm:t>
        <a:bodyPr/>
        <a:lstStyle/>
        <a:p>
          <a:endParaRPr lang="en-IN"/>
        </a:p>
      </dgm:t>
    </dgm:pt>
    <dgm:pt modelId="{24EB9FD3-F815-4459-A7C3-56D4F5E4EE03}" type="sibTrans" cxnId="{C7A55280-AECC-41D9-B781-C772CA51B509}">
      <dgm:prSet/>
      <dgm:spPr>
        <a:solidFill>
          <a:schemeClr val="accent4">
            <a:lumMod val="50000"/>
          </a:schemeClr>
        </a:solidFill>
      </dgm:spPr>
      <dgm:t>
        <a:bodyPr/>
        <a:lstStyle/>
        <a:p>
          <a:pPr marL="0" marR="0" indent="0" algn="ctr" defTabSz="914400" eaLnBrk="1" fontAlgn="auto" latinLnBrk="0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  <a:defRPr/>
          </a:pPr>
          <a:r>
            <a:rPr lang="en-US" dirty="0" smtClean="0"/>
            <a:t> Pre-Distorted signal </a:t>
          </a:r>
          <a:endParaRPr lang="en-IN" dirty="0" smtClean="0"/>
        </a:p>
        <a:p>
          <a:pPr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IN" dirty="0" smtClean="0"/>
        </a:p>
      </dgm:t>
    </dgm:pt>
    <dgm:pt modelId="{B45F3B4A-17BA-4DDE-A2F1-E851537973B0}">
      <dgm:prSet phldrT="[Text]"/>
      <dgm:spPr>
        <a:solidFill>
          <a:schemeClr val="accent2">
            <a:lumMod val="60000"/>
            <a:lumOff val="40000"/>
          </a:schemeClr>
        </a:solidFill>
      </dgm:spPr>
      <dgm:t>
        <a:bodyPr/>
        <a:lstStyle/>
        <a:p>
          <a:r>
            <a:rPr lang="en-US" dirty="0" smtClean="0"/>
            <a:t>Physical   PA</a:t>
          </a:r>
        </a:p>
        <a:p>
          <a:r>
            <a:rPr lang="en-US" dirty="0" smtClean="0"/>
            <a:t>(distorts again)</a:t>
          </a:r>
          <a:endParaRPr lang="en-IN" dirty="0"/>
        </a:p>
      </dgm:t>
    </dgm:pt>
    <dgm:pt modelId="{28DA354C-47A1-480B-AE68-BAAAD4FA7E15}" type="parTrans" cxnId="{04E03A85-998A-4AEA-8585-0B4DB702AF83}">
      <dgm:prSet/>
      <dgm:spPr/>
      <dgm:t>
        <a:bodyPr/>
        <a:lstStyle/>
        <a:p>
          <a:endParaRPr lang="en-IN"/>
        </a:p>
      </dgm:t>
    </dgm:pt>
    <dgm:pt modelId="{CE046531-94EF-4339-B01E-27F65A65ADAB}" type="sibTrans" cxnId="{04E03A85-998A-4AEA-8585-0B4DB702AF83}">
      <dgm:prSet/>
      <dgm:spPr>
        <a:solidFill>
          <a:srgbClr val="C00000"/>
        </a:solidFill>
      </dgm:spPr>
      <dgm:t>
        <a:bodyPr/>
        <a:lstStyle/>
        <a:p>
          <a:r>
            <a:rPr lang="en-US" dirty="0" smtClean="0"/>
            <a:t>Linear Amplified</a:t>
          </a:r>
          <a:endParaRPr lang="en-IN" dirty="0"/>
        </a:p>
      </dgm:t>
    </dgm:pt>
    <dgm:pt modelId="{02DC9CFA-601A-4E60-8DEC-76F2CDF6B9EB}">
      <dgm:prSet phldrT="[Text]"/>
      <dgm:spPr>
        <a:solidFill>
          <a:schemeClr val="accent2">
            <a:lumMod val="20000"/>
            <a:lumOff val="80000"/>
          </a:schemeClr>
        </a:solidFill>
      </dgm:spPr>
      <dgm:t>
        <a:bodyPr/>
        <a:lstStyle/>
        <a:p>
          <a:r>
            <a:rPr lang="en-US" dirty="0" smtClean="0"/>
            <a:t>O/P</a:t>
          </a:r>
          <a:endParaRPr lang="en-IN" dirty="0"/>
        </a:p>
      </dgm:t>
    </dgm:pt>
    <dgm:pt modelId="{695CDCAA-0FA3-43F1-A46E-A795104C5A3C}" type="parTrans" cxnId="{5418BA91-B9F1-4FC6-8F09-2091A4C18742}">
      <dgm:prSet/>
      <dgm:spPr/>
      <dgm:t>
        <a:bodyPr/>
        <a:lstStyle/>
        <a:p>
          <a:endParaRPr lang="en-IN"/>
        </a:p>
      </dgm:t>
    </dgm:pt>
    <dgm:pt modelId="{39282605-5395-4B6D-A96E-57431EFDAFE3}" type="sibTrans" cxnId="{5418BA91-B9F1-4FC6-8F09-2091A4C18742}">
      <dgm:prSet/>
      <dgm:spPr/>
      <dgm:t>
        <a:bodyPr/>
        <a:lstStyle/>
        <a:p>
          <a:endParaRPr lang="en-IN"/>
        </a:p>
      </dgm:t>
    </dgm:pt>
    <dgm:pt modelId="{F37D0447-9014-4A73-82C9-7E967740C0FD}" type="pres">
      <dgm:prSet presAssocID="{27D44F83-09AC-4E58-A449-ABBCE647C358}" presName="Name0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IN"/>
        </a:p>
      </dgm:t>
    </dgm:pt>
    <dgm:pt modelId="{08F06393-E171-4A31-9605-A7131454E3EF}" type="pres">
      <dgm:prSet presAssocID="{15B1BEC2-9BF0-42EC-811A-5621A9D615F0}" presName="node" presStyleLbl="node1" presStyleIdx="0" presStyleCnt="4" custScaleX="38615" custScaleY="31486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57CCBC54-DD18-41EA-B391-CACC7D0110E0}" type="pres">
      <dgm:prSet presAssocID="{F5E7B8E4-CDDF-4A21-92D7-D7C096ACCE8D}" presName="sibTrans" presStyleLbl="sibTrans2D1" presStyleIdx="0" presStyleCnt="3" custScaleX="186564"/>
      <dgm:spPr/>
      <dgm:t>
        <a:bodyPr/>
        <a:lstStyle/>
        <a:p>
          <a:endParaRPr lang="en-IN"/>
        </a:p>
      </dgm:t>
    </dgm:pt>
    <dgm:pt modelId="{E856ECBF-BD0C-4B88-9E90-3E7D515FC6DD}" type="pres">
      <dgm:prSet presAssocID="{F5E7B8E4-CDDF-4A21-92D7-D7C096ACCE8D}" presName="connectorText" presStyleLbl="sibTrans2D1" presStyleIdx="0" presStyleCnt="3"/>
      <dgm:spPr/>
      <dgm:t>
        <a:bodyPr/>
        <a:lstStyle/>
        <a:p>
          <a:endParaRPr lang="en-IN"/>
        </a:p>
      </dgm:t>
    </dgm:pt>
    <dgm:pt modelId="{E939315C-80CB-4EB9-9E73-300B94297114}" type="pres">
      <dgm:prSet presAssocID="{4FAD9946-33AB-45B6-928C-EA2086098B1D}" presName="node" presStyleLbl="node1" presStyleIdx="1" presStyleCnt="4" custScaleX="41846" custScaleY="66081" custLinFactNeighborX="5150" custLinFactNeighborY="8836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30150B3F-6070-44F9-B62A-F09DA1047D1F}" type="pres">
      <dgm:prSet presAssocID="{24EB9FD3-F815-4459-A7C3-56D4F5E4EE03}" presName="sibTrans" presStyleLbl="sibTrans2D1" presStyleIdx="1" presStyleCnt="3" custScaleX="189135" custScaleY="85122"/>
      <dgm:spPr/>
      <dgm:t>
        <a:bodyPr/>
        <a:lstStyle/>
        <a:p>
          <a:endParaRPr lang="en-IN"/>
        </a:p>
      </dgm:t>
    </dgm:pt>
    <dgm:pt modelId="{2A7F13F2-16A1-4575-85F5-724F20141C5C}" type="pres">
      <dgm:prSet presAssocID="{24EB9FD3-F815-4459-A7C3-56D4F5E4EE03}" presName="connectorText" presStyleLbl="sibTrans2D1" presStyleIdx="1" presStyleCnt="3"/>
      <dgm:spPr/>
      <dgm:t>
        <a:bodyPr/>
        <a:lstStyle/>
        <a:p>
          <a:endParaRPr lang="en-IN"/>
        </a:p>
      </dgm:t>
    </dgm:pt>
    <dgm:pt modelId="{CDC51E4D-C0DF-4637-B63E-7D7A98D4CF09}" type="pres">
      <dgm:prSet presAssocID="{B45F3B4A-17BA-4DDE-A2F1-E851537973B0}" presName="node" presStyleLbl="node1" presStyleIdx="2" presStyleCnt="4" custScaleX="54035" custScaleY="63625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88400399-EF74-4272-ABB8-5C9284303A7F}" type="pres">
      <dgm:prSet presAssocID="{CE046531-94EF-4339-B01E-27F65A65ADAB}" presName="sibTrans" presStyleLbl="sibTrans2D1" presStyleIdx="2" presStyleCnt="3" custScaleX="193702"/>
      <dgm:spPr/>
      <dgm:t>
        <a:bodyPr/>
        <a:lstStyle/>
        <a:p>
          <a:endParaRPr lang="en-IN"/>
        </a:p>
      </dgm:t>
    </dgm:pt>
    <dgm:pt modelId="{DCC1FE2F-98DF-4BDA-8AD3-D77E766537C8}" type="pres">
      <dgm:prSet presAssocID="{CE046531-94EF-4339-B01E-27F65A65ADAB}" presName="connectorText" presStyleLbl="sibTrans2D1" presStyleIdx="2" presStyleCnt="3"/>
      <dgm:spPr/>
      <dgm:t>
        <a:bodyPr/>
        <a:lstStyle/>
        <a:p>
          <a:endParaRPr lang="en-IN"/>
        </a:p>
      </dgm:t>
    </dgm:pt>
    <dgm:pt modelId="{779BE160-0346-491E-8211-D13FEC1CA34D}" type="pres">
      <dgm:prSet presAssocID="{02DC9CFA-601A-4E60-8DEC-76F2CDF6B9EB}" presName="node" presStyleLbl="node1" presStyleIdx="3" presStyleCnt="4" custScaleX="40520" custScaleY="32999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</dgm:ptLst>
  <dgm:cxnLst>
    <dgm:cxn modelId="{3D65CD50-5842-466D-9822-CA00E00A44C9}" srcId="{27D44F83-09AC-4E58-A449-ABBCE647C358}" destId="{15B1BEC2-9BF0-42EC-811A-5621A9D615F0}" srcOrd="0" destOrd="0" parTransId="{FA316957-49BD-4C09-9FC0-DF81329AC9CA}" sibTransId="{F5E7B8E4-CDDF-4A21-92D7-D7C096ACCE8D}"/>
    <dgm:cxn modelId="{104EABD1-99B1-4CD4-B82C-9468C4BBB595}" type="presOf" srcId="{CE046531-94EF-4339-B01E-27F65A65ADAB}" destId="{88400399-EF74-4272-ABB8-5C9284303A7F}" srcOrd="0" destOrd="0" presId="urn:microsoft.com/office/officeart/2005/8/layout/process1"/>
    <dgm:cxn modelId="{387CC4B1-26B8-427F-BFC4-DED58BDACD58}" type="presOf" srcId="{24EB9FD3-F815-4459-A7C3-56D4F5E4EE03}" destId="{2A7F13F2-16A1-4575-85F5-724F20141C5C}" srcOrd="1" destOrd="0" presId="urn:microsoft.com/office/officeart/2005/8/layout/process1"/>
    <dgm:cxn modelId="{7B19C1F9-E43F-44FD-8D55-DA0307C5E833}" type="presOf" srcId="{CE046531-94EF-4339-B01E-27F65A65ADAB}" destId="{DCC1FE2F-98DF-4BDA-8AD3-D77E766537C8}" srcOrd="1" destOrd="0" presId="urn:microsoft.com/office/officeart/2005/8/layout/process1"/>
    <dgm:cxn modelId="{D350B679-6334-41FC-A724-BD1E4AA549F2}" type="presOf" srcId="{27D44F83-09AC-4E58-A449-ABBCE647C358}" destId="{F37D0447-9014-4A73-82C9-7E967740C0FD}" srcOrd="0" destOrd="0" presId="urn:microsoft.com/office/officeart/2005/8/layout/process1"/>
    <dgm:cxn modelId="{5B3094CD-E836-444B-8E36-749F79B4B7E5}" type="presOf" srcId="{F5E7B8E4-CDDF-4A21-92D7-D7C096ACCE8D}" destId="{57CCBC54-DD18-41EA-B391-CACC7D0110E0}" srcOrd="0" destOrd="0" presId="urn:microsoft.com/office/officeart/2005/8/layout/process1"/>
    <dgm:cxn modelId="{A41C8D7D-7084-4175-B95F-38069B231924}" type="presOf" srcId="{F5E7B8E4-CDDF-4A21-92D7-D7C096ACCE8D}" destId="{E856ECBF-BD0C-4B88-9E90-3E7D515FC6DD}" srcOrd="1" destOrd="0" presId="urn:microsoft.com/office/officeart/2005/8/layout/process1"/>
    <dgm:cxn modelId="{5418BA91-B9F1-4FC6-8F09-2091A4C18742}" srcId="{27D44F83-09AC-4E58-A449-ABBCE647C358}" destId="{02DC9CFA-601A-4E60-8DEC-76F2CDF6B9EB}" srcOrd="3" destOrd="0" parTransId="{695CDCAA-0FA3-43F1-A46E-A795104C5A3C}" sibTransId="{39282605-5395-4B6D-A96E-57431EFDAFE3}"/>
    <dgm:cxn modelId="{C7A55280-AECC-41D9-B781-C772CA51B509}" srcId="{27D44F83-09AC-4E58-A449-ABBCE647C358}" destId="{4FAD9946-33AB-45B6-928C-EA2086098B1D}" srcOrd="1" destOrd="0" parTransId="{DC9D56B0-399E-4DCB-8AFE-C14104D731C8}" sibTransId="{24EB9FD3-F815-4459-A7C3-56D4F5E4EE03}"/>
    <dgm:cxn modelId="{D5D7E198-2CD6-457F-8865-7FF45D6C8F8A}" type="presOf" srcId="{15B1BEC2-9BF0-42EC-811A-5621A9D615F0}" destId="{08F06393-E171-4A31-9605-A7131454E3EF}" srcOrd="0" destOrd="0" presId="urn:microsoft.com/office/officeart/2005/8/layout/process1"/>
    <dgm:cxn modelId="{C85B1AFE-5546-4BE0-8EE2-0F04586FD059}" type="presOf" srcId="{B45F3B4A-17BA-4DDE-A2F1-E851537973B0}" destId="{CDC51E4D-C0DF-4637-B63E-7D7A98D4CF09}" srcOrd="0" destOrd="0" presId="urn:microsoft.com/office/officeart/2005/8/layout/process1"/>
    <dgm:cxn modelId="{E5DE9A41-F002-4126-926D-F3B3C001004E}" type="presOf" srcId="{02DC9CFA-601A-4E60-8DEC-76F2CDF6B9EB}" destId="{779BE160-0346-491E-8211-D13FEC1CA34D}" srcOrd="0" destOrd="0" presId="urn:microsoft.com/office/officeart/2005/8/layout/process1"/>
    <dgm:cxn modelId="{D7A55FA1-775E-4BC1-BE1B-129176EFBDCF}" type="presOf" srcId="{24EB9FD3-F815-4459-A7C3-56D4F5E4EE03}" destId="{30150B3F-6070-44F9-B62A-F09DA1047D1F}" srcOrd="0" destOrd="0" presId="urn:microsoft.com/office/officeart/2005/8/layout/process1"/>
    <dgm:cxn modelId="{126079E5-A7D2-4C0E-895C-7EFC7403C6EF}" type="presOf" srcId="{4FAD9946-33AB-45B6-928C-EA2086098B1D}" destId="{E939315C-80CB-4EB9-9E73-300B94297114}" srcOrd="0" destOrd="0" presId="urn:microsoft.com/office/officeart/2005/8/layout/process1"/>
    <dgm:cxn modelId="{04E03A85-998A-4AEA-8585-0B4DB702AF83}" srcId="{27D44F83-09AC-4E58-A449-ABBCE647C358}" destId="{B45F3B4A-17BA-4DDE-A2F1-E851537973B0}" srcOrd="2" destOrd="0" parTransId="{28DA354C-47A1-480B-AE68-BAAAD4FA7E15}" sibTransId="{CE046531-94EF-4339-B01E-27F65A65ADAB}"/>
    <dgm:cxn modelId="{5B8158C8-7586-48D4-9C38-0F17DC588330}" type="presParOf" srcId="{F37D0447-9014-4A73-82C9-7E967740C0FD}" destId="{08F06393-E171-4A31-9605-A7131454E3EF}" srcOrd="0" destOrd="0" presId="urn:microsoft.com/office/officeart/2005/8/layout/process1"/>
    <dgm:cxn modelId="{D5D8B15D-704A-4172-869A-3353EC7ED7A4}" type="presParOf" srcId="{F37D0447-9014-4A73-82C9-7E967740C0FD}" destId="{57CCBC54-DD18-41EA-B391-CACC7D0110E0}" srcOrd="1" destOrd="0" presId="urn:microsoft.com/office/officeart/2005/8/layout/process1"/>
    <dgm:cxn modelId="{B47159AC-1136-4CE6-AFDF-0B2AC3E781AD}" type="presParOf" srcId="{57CCBC54-DD18-41EA-B391-CACC7D0110E0}" destId="{E856ECBF-BD0C-4B88-9E90-3E7D515FC6DD}" srcOrd="0" destOrd="0" presId="urn:microsoft.com/office/officeart/2005/8/layout/process1"/>
    <dgm:cxn modelId="{307955E5-895C-437B-959B-1EE92E645A3E}" type="presParOf" srcId="{F37D0447-9014-4A73-82C9-7E967740C0FD}" destId="{E939315C-80CB-4EB9-9E73-300B94297114}" srcOrd="2" destOrd="0" presId="urn:microsoft.com/office/officeart/2005/8/layout/process1"/>
    <dgm:cxn modelId="{844CA7DB-4B55-486F-88B2-FAB147350834}" type="presParOf" srcId="{F37D0447-9014-4A73-82C9-7E967740C0FD}" destId="{30150B3F-6070-44F9-B62A-F09DA1047D1F}" srcOrd="3" destOrd="0" presId="urn:microsoft.com/office/officeart/2005/8/layout/process1"/>
    <dgm:cxn modelId="{FC3F4C34-2CF6-447D-AB3B-B731D554DB48}" type="presParOf" srcId="{30150B3F-6070-44F9-B62A-F09DA1047D1F}" destId="{2A7F13F2-16A1-4575-85F5-724F20141C5C}" srcOrd="0" destOrd="0" presId="urn:microsoft.com/office/officeart/2005/8/layout/process1"/>
    <dgm:cxn modelId="{93669C6D-4287-40DE-B632-3BBD066936D1}" type="presParOf" srcId="{F37D0447-9014-4A73-82C9-7E967740C0FD}" destId="{CDC51E4D-C0DF-4637-B63E-7D7A98D4CF09}" srcOrd="4" destOrd="0" presId="urn:microsoft.com/office/officeart/2005/8/layout/process1"/>
    <dgm:cxn modelId="{035A7855-30DE-4063-A51D-E3CF74C8ADEE}" type="presParOf" srcId="{F37D0447-9014-4A73-82C9-7E967740C0FD}" destId="{88400399-EF74-4272-ABB8-5C9284303A7F}" srcOrd="5" destOrd="0" presId="urn:microsoft.com/office/officeart/2005/8/layout/process1"/>
    <dgm:cxn modelId="{A0B5A95D-8608-4B42-942C-4B2F5C54B944}" type="presParOf" srcId="{88400399-EF74-4272-ABB8-5C9284303A7F}" destId="{DCC1FE2F-98DF-4BDA-8AD3-D77E766537C8}" srcOrd="0" destOrd="0" presId="urn:microsoft.com/office/officeart/2005/8/layout/process1"/>
    <dgm:cxn modelId="{3E48E0CC-55F6-439C-BFFC-36F37889122F}" type="presParOf" srcId="{F37D0447-9014-4A73-82C9-7E967740C0FD}" destId="{779BE160-0346-491E-8211-D13FEC1CA34D}" srcOrd="6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385FD564-3154-4150-A84C-82AB6B61391C}" type="doc">
      <dgm:prSet loTypeId="urn:microsoft.com/office/officeart/2005/8/layout/cycle7" loCatId="cycl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9D22B430-AA13-40BE-BB39-427D4B654D11}">
      <dgm:prSet phldrT="[Text]"/>
      <dgm:spPr>
        <a:solidFill>
          <a:schemeClr val="accent2">
            <a:lumMod val="75000"/>
          </a:schemeClr>
        </a:solidFill>
      </dgm:spPr>
      <dgm:t>
        <a:bodyPr/>
        <a:lstStyle/>
        <a:p>
          <a:r>
            <a:rPr lang="en-US" dirty="0" smtClean="0"/>
            <a:t>Physical PA</a:t>
          </a:r>
          <a:endParaRPr lang="en-IN" dirty="0"/>
        </a:p>
      </dgm:t>
    </dgm:pt>
    <dgm:pt modelId="{5FBE7530-07FB-4105-94CA-CF336AFD4911}" type="parTrans" cxnId="{9DC551D0-949A-4E86-850D-9213519AFB6A}">
      <dgm:prSet/>
      <dgm:spPr/>
      <dgm:t>
        <a:bodyPr/>
        <a:lstStyle/>
        <a:p>
          <a:endParaRPr lang="en-IN"/>
        </a:p>
      </dgm:t>
    </dgm:pt>
    <dgm:pt modelId="{772244DB-DFD7-41BC-8713-EE2F7E869449}" type="sibTrans" cxnId="{9DC551D0-949A-4E86-850D-9213519AFB6A}">
      <dgm:prSet/>
      <dgm:spPr/>
      <dgm:t>
        <a:bodyPr/>
        <a:lstStyle/>
        <a:p>
          <a:endParaRPr lang="en-IN"/>
        </a:p>
      </dgm:t>
    </dgm:pt>
    <dgm:pt modelId="{9541097B-AB71-428F-A4A1-9E5F46CEED33}" type="pres">
      <dgm:prSet presAssocID="{385FD564-3154-4150-A84C-82AB6B61391C}" presName="Name0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IN"/>
        </a:p>
      </dgm:t>
    </dgm:pt>
    <dgm:pt modelId="{1A754C9E-76D2-4029-89ED-A26DB3FB7995}" type="pres">
      <dgm:prSet presAssocID="{9D22B430-AA13-40BE-BB39-427D4B654D11}" presName="node" presStyleLbl="node1" presStyleIdx="0" presStyleCnt="1" custRadScaleRad="120044" custRadScaleInc="11760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</dgm:ptLst>
  <dgm:cxnLst>
    <dgm:cxn modelId="{6D242AE1-9046-47C6-A7E3-53D426E45E24}" type="presOf" srcId="{9D22B430-AA13-40BE-BB39-427D4B654D11}" destId="{1A754C9E-76D2-4029-89ED-A26DB3FB7995}" srcOrd="0" destOrd="0" presId="urn:microsoft.com/office/officeart/2005/8/layout/cycle7"/>
    <dgm:cxn modelId="{4BEAECF2-6281-4070-8273-567A2D8DB3EA}" type="presOf" srcId="{385FD564-3154-4150-A84C-82AB6B61391C}" destId="{9541097B-AB71-428F-A4A1-9E5F46CEED33}" srcOrd="0" destOrd="0" presId="urn:microsoft.com/office/officeart/2005/8/layout/cycle7"/>
    <dgm:cxn modelId="{9DC551D0-949A-4E86-850D-9213519AFB6A}" srcId="{385FD564-3154-4150-A84C-82AB6B61391C}" destId="{9D22B430-AA13-40BE-BB39-427D4B654D11}" srcOrd="0" destOrd="0" parTransId="{5FBE7530-07FB-4105-94CA-CF336AFD4911}" sibTransId="{772244DB-DFD7-41BC-8713-EE2F7E869449}"/>
    <dgm:cxn modelId="{76F462BE-7804-4EE0-A31D-ACCD9B4DE9CC}" type="presParOf" srcId="{9541097B-AB71-428F-A4A1-9E5F46CEED33}" destId="{1A754C9E-76D2-4029-89ED-A26DB3FB7995}" srcOrd="0" destOrd="0" presId="urn:microsoft.com/office/officeart/2005/8/layout/cycle7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27D44F83-09AC-4E58-A449-ABBCE647C358}" type="doc">
      <dgm:prSet loTypeId="urn:microsoft.com/office/officeart/2005/8/layout/process1" loCatId="process" qsTypeId="urn:microsoft.com/office/officeart/2005/8/quickstyle/simple1" qsCatId="simple" csTypeId="urn:microsoft.com/office/officeart/2005/8/colors/colorful4" csCatId="colorful" phldr="1"/>
      <dgm:spPr/>
      <dgm:t>
        <a:bodyPr/>
        <a:lstStyle/>
        <a:p>
          <a:endParaRPr lang="en-IN"/>
        </a:p>
      </dgm:t>
    </dgm:pt>
    <dgm:pt modelId="{15B1BEC2-9BF0-42EC-811A-5621A9D615F0}">
      <dgm:prSet phldrT="[Text]"/>
      <dgm:spPr/>
      <dgm:t>
        <a:bodyPr/>
        <a:lstStyle/>
        <a:p>
          <a:r>
            <a:rPr lang="en-US" dirty="0" smtClean="0"/>
            <a:t>I/P</a:t>
          </a:r>
          <a:endParaRPr lang="en-IN" dirty="0"/>
        </a:p>
      </dgm:t>
    </dgm:pt>
    <dgm:pt modelId="{FA316957-49BD-4C09-9FC0-DF81329AC9CA}" type="parTrans" cxnId="{3D65CD50-5842-466D-9822-CA00E00A44C9}">
      <dgm:prSet/>
      <dgm:spPr/>
      <dgm:t>
        <a:bodyPr/>
        <a:lstStyle/>
        <a:p>
          <a:endParaRPr lang="en-IN"/>
        </a:p>
      </dgm:t>
    </dgm:pt>
    <dgm:pt modelId="{F5E7B8E4-CDDF-4A21-92D7-D7C096ACCE8D}" type="sibTrans" cxnId="{3D65CD50-5842-466D-9822-CA00E00A44C9}">
      <dgm:prSet/>
      <dgm:spPr/>
      <dgm:t>
        <a:bodyPr/>
        <a:lstStyle/>
        <a:p>
          <a:endParaRPr lang="en-IN"/>
        </a:p>
      </dgm:t>
    </dgm:pt>
    <dgm:pt modelId="{4FAD9946-33AB-45B6-928C-EA2086098B1D}">
      <dgm:prSet phldrT="[Text]"/>
      <dgm:spPr/>
      <dgm:t>
        <a:bodyPr/>
        <a:lstStyle/>
        <a:p>
          <a:r>
            <a:rPr lang="en-US" dirty="0" smtClean="0"/>
            <a:t>NN DPD</a:t>
          </a:r>
          <a:endParaRPr lang="en-IN" dirty="0"/>
        </a:p>
      </dgm:t>
    </dgm:pt>
    <dgm:pt modelId="{DC9D56B0-399E-4DCB-8AFE-C14104D731C8}" type="parTrans" cxnId="{C7A55280-AECC-41D9-B781-C772CA51B509}">
      <dgm:prSet/>
      <dgm:spPr/>
      <dgm:t>
        <a:bodyPr/>
        <a:lstStyle/>
        <a:p>
          <a:endParaRPr lang="en-IN"/>
        </a:p>
      </dgm:t>
    </dgm:pt>
    <dgm:pt modelId="{24EB9FD3-F815-4459-A7C3-56D4F5E4EE03}" type="sibTrans" cxnId="{C7A55280-AECC-41D9-B781-C772CA51B509}">
      <dgm:prSet/>
      <dgm:spPr/>
      <dgm:t>
        <a:bodyPr/>
        <a:lstStyle/>
        <a:p>
          <a:endParaRPr lang="en-IN"/>
        </a:p>
      </dgm:t>
    </dgm:pt>
    <dgm:pt modelId="{B45F3B4A-17BA-4DDE-A2F1-E851537973B0}">
      <dgm:prSet phldrT="[Text]"/>
      <dgm:spPr/>
      <dgm:t>
        <a:bodyPr/>
        <a:lstStyle/>
        <a:p>
          <a:r>
            <a:rPr lang="en-US" dirty="0" smtClean="0"/>
            <a:t>Physical</a:t>
          </a:r>
        </a:p>
        <a:p>
          <a:r>
            <a:rPr lang="en-US" dirty="0" smtClean="0"/>
            <a:t>PA</a:t>
          </a:r>
          <a:endParaRPr lang="en-IN" dirty="0"/>
        </a:p>
      </dgm:t>
    </dgm:pt>
    <dgm:pt modelId="{28DA354C-47A1-480B-AE68-BAAAD4FA7E15}" type="parTrans" cxnId="{04E03A85-998A-4AEA-8585-0B4DB702AF83}">
      <dgm:prSet/>
      <dgm:spPr/>
      <dgm:t>
        <a:bodyPr/>
        <a:lstStyle/>
        <a:p>
          <a:endParaRPr lang="en-IN"/>
        </a:p>
      </dgm:t>
    </dgm:pt>
    <dgm:pt modelId="{CE046531-94EF-4339-B01E-27F65A65ADAB}" type="sibTrans" cxnId="{04E03A85-998A-4AEA-8585-0B4DB702AF83}">
      <dgm:prSet/>
      <dgm:spPr/>
      <dgm:t>
        <a:bodyPr/>
        <a:lstStyle/>
        <a:p>
          <a:endParaRPr lang="en-IN"/>
        </a:p>
      </dgm:t>
    </dgm:pt>
    <dgm:pt modelId="{02DC9CFA-601A-4E60-8DEC-76F2CDF6B9EB}">
      <dgm:prSet phldrT="[Text]"/>
      <dgm:spPr/>
      <dgm:t>
        <a:bodyPr/>
        <a:lstStyle/>
        <a:p>
          <a:r>
            <a:rPr lang="en-US" dirty="0" smtClean="0"/>
            <a:t>O/P</a:t>
          </a:r>
          <a:endParaRPr lang="en-IN" dirty="0"/>
        </a:p>
      </dgm:t>
    </dgm:pt>
    <dgm:pt modelId="{695CDCAA-0FA3-43F1-A46E-A795104C5A3C}" type="parTrans" cxnId="{5418BA91-B9F1-4FC6-8F09-2091A4C18742}">
      <dgm:prSet/>
      <dgm:spPr/>
      <dgm:t>
        <a:bodyPr/>
        <a:lstStyle/>
        <a:p>
          <a:endParaRPr lang="en-IN"/>
        </a:p>
      </dgm:t>
    </dgm:pt>
    <dgm:pt modelId="{39282605-5395-4B6D-A96E-57431EFDAFE3}" type="sibTrans" cxnId="{5418BA91-B9F1-4FC6-8F09-2091A4C18742}">
      <dgm:prSet/>
      <dgm:spPr/>
      <dgm:t>
        <a:bodyPr/>
        <a:lstStyle/>
        <a:p>
          <a:endParaRPr lang="en-IN"/>
        </a:p>
      </dgm:t>
    </dgm:pt>
    <dgm:pt modelId="{F37D0447-9014-4A73-82C9-7E967740C0FD}" type="pres">
      <dgm:prSet presAssocID="{27D44F83-09AC-4E58-A449-ABBCE647C358}" presName="Name0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IN"/>
        </a:p>
      </dgm:t>
    </dgm:pt>
    <dgm:pt modelId="{08F06393-E171-4A31-9605-A7131454E3EF}" type="pres">
      <dgm:prSet presAssocID="{15B1BEC2-9BF0-42EC-811A-5621A9D615F0}" presName="node" presStyleLbl="node1" presStyleIdx="0" presStyleCnt="4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57CCBC54-DD18-41EA-B391-CACC7D0110E0}" type="pres">
      <dgm:prSet presAssocID="{F5E7B8E4-CDDF-4A21-92D7-D7C096ACCE8D}" presName="sibTrans" presStyleLbl="sibTrans2D1" presStyleIdx="0" presStyleCnt="3"/>
      <dgm:spPr/>
      <dgm:t>
        <a:bodyPr/>
        <a:lstStyle/>
        <a:p>
          <a:endParaRPr lang="en-IN"/>
        </a:p>
      </dgm:t>
    </dgm:pt>
    <dgm:pt modelId="{E856ECBF-BD0C-4B88-9E90-3E7D515FC6DD}" type="pres">
      <dgm:prSet presAssocID="{F5E7B8E4-CDDF-4A21-92D7-D7C096ACCE8D}" presName="connectorText" presStyleLbl="sibTrans2D1" presStyleIdx="0" presStyleCnt="3"/>
      <dgm:spPr/>
      <dgm:t>
        <a:bodyPr/>
        <a:lstStyle/>
        <a:p>
          <a:endParaRPr lang="en-IN"/>
        </a:p>
      </dgm:t>
    </dgm:pt>
    <dgm:pt modelId="{E939315C-80CB-4EB9-9E73-300B94297114}" type="pres">
      <dgm:prSet presAssocID="{4FAD9946-33AB-45B6-928C-EA2086098B1D}" presName="node" presStyleLbl="node1" presStyleIdx="1" presStyleCnt="4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30150B3F-6070-44F9-B62A-F09DA1047D1F}" type="pres">
      <dgm:prSet presAssocID="{24EB9FD3-F815-4459-A7C3-56D4F5E4EE03}" presName="sibTrans" presStyleLbl="sibTrans2D1" presStyleIdx="1" presStyleCnt="3"/>
      <dgm:spPr/>
      <dgm:t>
        <a:bodyPr/>
        <a:lstStyle/>
        <a:p>
          <a:endParaRPr lang="en-IN"/>
        </a:p>
      </dgm:t>
    </dgm:pt>
    <dgm:pt modelId="{2A7F13F2-16A1-4575-85F5-724F20141C5C}" type="pres">
      <dgm:prSet presAssocID="{24EB9FD3-F815-4459-A7C3-56D4F5E4EE03}" presName="connectorText" presStyleLbl="sibTrans2D1" presStyleIdx="1" presStyleCnt="3"/>
      <dgm:spPr/>
      <dgm:t>
        <a:bodyPr/>
        <a:lstStyle/>
        <a:p>
          <a:endParaRPr lang="en-IN"/>
        </a:p>
      </dgm:t>
    </dgm:pt>
    <dgm:pt modelId="{CDC51E4D-C0DF-4637-B63E-7D7A98D4CF09}" type="pres">
      <dgm:prSet presAssocID="{B45F3B4A-17BA-4DDE-A2F1-E851537973B0}" presName="node" presStyleLbl="node1" presStyleIdx="2" presStyleCnt="4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88400399-EF74-4272-ABB8-5C9284303A7F}" type="pres">
      <dgm:prSet presAssocID="{CE046531-94EF-4339-B01E-27F65A65ADAB}" presName="sibTrans" presStyleLbl="sibTrans2D1" presStyleIdx="2" presStyleCnt="3"/>
      <dgm:spPr/>
      <dgm:t>
        <a:bodyPr/>
        <a:lstStyle/>
        <a:p>
          <a:endParaRPr lang="en-IN"/>
        </a:p>
      </dgm:t>
    </dgm:pt>
    <dgm:pt modelId="{DCC1FE2F-98DF-4BDA-8AD3-D77E766537C8}" type="pres">
      <dgm:prSet presAssocID="{CE046531-94EF-4339-B01E-27F65A65ADAB}" presName="connectorText" presStyleLbl="sibTrans2D1" presStyleIdx="2" presStyleCnt="3"/>
      <dgm:spPr/>
      <dgm:t>
        <a:bodyPr/>
        <a:lstStyle/>
        <a:p>
          <a:endParaRPr lang="en-IN"/>
        </a:p>
      </dgm:t>
    </dgm:pt>
    <dgm:pt modelId="{779BE160-0346-491E-8211-D13FEC1CA34D}" type="pres">
      <dgm:prSet presAssocID="{02DC9CFA-601A-4E60-8DEC-76F2CDF6B9EB}" presName="node" presStyleLbl="node1" presStyleIdx="3" presStyleCnt="4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</dgm:ptLst>
  <dgm:cxnLst>
    <dgm:cxn modelId="{826AF2F1-A485-4AC9-9149-64A68885D66C}" type="presOf" srcId="{24EB9FD3-F815-4459-A7C3-56D4F5E4EE03}" destId="{2A7F13F2-16A1-4575-85F5-724F20141C5C}" srcOrd="1" destOrd="0" presId="urn:microsoft.com/office/officeart/2005/8/layout/process1"/>
    <dgm:cxn modelId="{E1AE08E2-8168-49BE-AAA8-26DCEDC4ACCF}" type="presOf" srcId="{CE046531-94EF-4339-B01E-27F65A65ADAB}" destId="{DCC1FE2F-98DF-4BDA-8AD3-D77E766537C8}" srcOrd="1" destOrd="0" presId="urn:microsoft.com/office/officeart/2005/8/layout/process1"/>
    <dgm:cxn modelId="{53408930-D461-4E97-A591-7173BFC5986C}" type="presOf" srcId="{4FAD9946-33AB-45B6-928C-EA2086098B1D}" destId="{E939315C-80CB-4EB9-9E73-300B94297114}" srcOrd="0" destOrd="0" presId="urn:microsoft.com/office/officeart/2005/8/layout/process1"/>
    <dgm:cxn modelId="{DA6C0FEC-AC8F-455A-AB93-C93226B4342C}" type="presOf" srcId="{F5E7B8E4-CDDF-4A21-92D7-D7C096ACCE8D}" destId="{57CCBC54-DD18-41EA-B391-CACC7D0110E0}" srcOrd="0" destOrd="0" presId="urn:microsoft.com/office/officeart/2005/8/layout/process1"/>
    <dgm:cxn modelId="{5418BA91-B9F1-4FC6-8F09-2091A4C18742}" srcId="{27D44F83-09AC-4E58-A449-ABBCE647C358}" destId="{02DC9CFA-601A-4E60-8DEC-76F2CDF6B9EB}" srcOrd="3" destOrd="0" parTransId="{695CDCAA-0FA3-43F1-A46E-A795104C5A3C}" sibTransId="{39282605-5395-4B6D-A96E-57431EFDAFE3}"/>
    <dgm:cxn modelId="{3D65CD50-5842-466D-9822-CA00E00A44C9}" srcId="{27D44F83-09AC-4E58-A449-ABBCE647C358}" destId="{15B1BEC2-9BF0-42EC-811A-5621A9D615F0}" srcOrd="0" destOrd="0" parTransId="{FA316957-49BD-4C09-9FC0-DF81329AC9CA}" sibTransId="{F5E7B8E4-CDDF-4A21-92D7-D7C096ACCE8D}"/>
    <dgm:cxn modelId="{04E03A85-998A-4AEA-8585-0B4DB702AF83}" srcId="{27D44F83-09AC-4E58-A449-ABBCE647C358}" destId="{B45F3B4A-17BA-4DDE-A2F1-E851537973B0}" srcOrd="2" destOrd="0" parTransId="{28DA354C-47A1-480B-AE68-BAAAD4FA7E15}" sibTransId="{CE046531-94EF-4339-B01E-27F65A65ADAB}"/>
    <dgm:cxn modelId="{C7A55280-AECC-41D9-B781-C772CA51B509}" srcId="{27D44F83-09AC-4E58-A449-ABBCE647C358}" destId="{4FAD9946-33AB-45B6-928C-EA2086098B1D}" srcOrd="1" destOrd="0" parTransId="{DC9D56B0-399E-4DCB-8AFE-C14104D731C8}" sibTransId="{24EB9FD3-F815-4459-A7C3-56D4F5E4EE03}"/>
    <dgm:cxn modelId="{8A732969-38DE-4BB0-83FC-66E9A20E7E32}" type="presOf" srcId="{24EB9FD3-F815-4459-A7C3-56D4F5E4EE03}" destId="{30150B3F-6070-44F9-B62A-F09DA1047D1F}" srcOrd="0" destOrd="0" presId="urn:microsoft.com/office/officeart/2005/8/layout/process1"/>
    <dgm:cxn modelId="{CF8AEBB7-9DC3-4AA9-930D-DA78634D64FF}" type="presOf" srcId="{B45F3B4A-17BA-4DDE-A2F1-E851537973B0}" destId="{CDC51E4D-C0DF-4637-B63E-7D7A98D4CF09}" srcOrd="0" destOrd="0" presId="urn:microsoft.com/office/officeart/2005/8/layout/process1"/>
    <dgm:cxn modelId="{CFA79298-A262-41C4-96D8-F0E96ED8B476}" type="presOf" srcId="{CE046531-94EF-4339-B01E-27F65A65ADAB}" destId="{88400399-EF74-4272-ABB8-5C9284303A7F}" srcOrd="0" destOrd="0" presId="urn:microsoft.com/office/officeart/2005/8/layout/process1"/>
    <dgm:cxn modelId="{D5FCC506-72C6-4C67-9A9E-109F748E171E}" type="presOf" srcId="{F5E7B8E4-CDDF-4A21-92D7-D7C096ACCE8D}" destId="{E856ECBF-BD0C-4B88-9E90-3E7D515FC6DD}" srcOrd="1" destOrd="0" presId="urn:microsoft.com/office/officeart/2005/8/layout/process1"/>
    <dgm:cxn modelId="{0C33E8DA-052F-4263-BDA4-72A55B2605FC}" type="presOf" srcId="{15B1BEC2-9BF0-42EC-811A-5621A9D615F0}" destId="{08F06393-E171-4A31-9605-A7131454E3EF}" srcOrd="0" destOrd="0" presId="urn:microsoft.com/office/officeart/2005/8/layout/process1"/>
    <dgm:cxn modelId="{3519E37E-CC1C-47D1-9558-672057A3D355}" type="presOf" srcId="{27D44F83-09AC-4E58-A449-ABBCE647C358}" destId="{F37D0447-9014-4A73-82C9-7E967740C0FD}" srcOrd="0" destOrd="0" presId="urn:microsoft.com/office/officeart/2005/8/layout/process1"/>
    <dgm:cxn modelId="{CC1B690A-DFC6-4F19-9C75-54D68DCC6C67}" type="presOf" srcId="{02DC9CFA-601A-4E60-8DEC-76F2CDF6B9EB}" destId="{779BE160-0346-491E-8211-D13FEC1CA34D}" srcOrd="0" destOrd="0" presId="urn:microsoft.com/office/officeart/2005/8/layout/process1"/>
    <dgm:cxn modelId="{4A3E360B-A01E-4025-9E12-D284AC05EF2B}" type="presParOf" srcId="{F37D0447-9014-4A73-82C9-7E967740C0FD}" destId="{08F06393-E171-4A31-9605-A7131454E3EF}" srcOrd="0" destOrd="0" presId="urn:microsoft.com/office/officeart/2005/8/layout/process1"/>
    <dgm:cxn modelId="{C426FE51-B3E1-4A22-908A-05D1D96B2086}" type="presParOf" srcId="{F37D0447-9014-4A73-82C9-7E967740C0FD}" destId="{57CCBC54-DD18-41EA-B391-CACC7D0110E0}" srcOrd="1" destOrd="0" presId="urn:microsoft.com/office/officeart/2005/8/layout/process1"/>
    <dgm:cxn modelId="{B486A0A9-3BDC-425C-B0B2-5C170027B104}" type="presParOf" srcId="{57CCBC54-DD18-41EA-B391-CACC7D0110E0}" destId="{E856ECBF-BD0C-4B88-9E90-3E7D515FC6DD}" srcOrd="0" destOrd="0" presId="urn:microsoft.com/office/officeart/2005/8/layout/process1"/>
    <dgm:cxn modelId="{2A550B7E-3F7C-44B1-87E1-D32C7B4A69A4}" type="presParOf" srcId="{F37D0447-9014-4A73-82C9-7E967740C0FD}" destId="{E939315C-80CB-4EB9-9E73-300B94297114}" srcOrd="2" destOrd="0" presId="urn:microsoft.com/office/officeart/2005/8/layout/process1"/>
    <dgm:cxn modelId="{764FCEEF-1054-44A5-94F1-E9DD0361D302}" type="presParOf" srcId="{F37D0447-9014-4A73-82C9-7E967740C0FD}" destId="{30150B3F-6070-44F9-B62A-F09DA1047D1F}" srcOrd="3" destOrd="0" presId="urn:microsoft.com/office/officeart/2005/8/layout/process1"/>
    <dgm:cxn modelId="{733ADECE-5AC8-44F7-83C4-61870CBFE0CE}" type="presParOf" srcId="{30150B3F-6070-44F9-B62A-F09DA1047D1F}" destId="{2A7F13F2-16A1-4575-85F5-724F20141C5C}" srcOrd="0" destOrd="0" presId="urn:microsoft.com/office/officeart/2005/8/layout/process1"/>
    <dgm:cxn modelId="{8382D456-69E9-40FF-8391-264DC430D4F8}" type="presParOf" srcId="{F37D0447-9014-4A73-82C9-7E967740C0FD}" destId="{CDC51E4D-C0DF-4637-B63E-7D7A98D4CF09}" srcOrd="4" destOrd="0" presId="urn:microsoft.com/office/officeart/2005/8/layout/process1"/>
    <dgm:cxn modelId="{77255C44-4646-4360-AE22-6AA2036B0BA7}" type="presParOf" srcId="{F37D0447-9014-4A73-82C9-7E967740C0FD}" destId="{88400399-EF74-4272-ABB8-5C9284303A7F}" srcOrd="5" destOrd="0" presId="urn:microsoft.com/office/officeart/2005/8/layout/process1"/>
    <dgm:cxn modelId="{4FD507F4-2CF6-406F-B79C-8682D9D13902}" type="presParOf" srcId="{88400399-EF74-4272-ABB8-5C9284303A7F}" destId="{DCC1FE2F-98DF-4BDA-8AD3-D77E766537C8}" srcOrd="0" destOrd="0" presId="urn:microsoft.com/office/officeart/2005/8/layout/process1"/>
    <dgm:cxn modelId="{88C325FB-0B56-4BE0-B79A-30E7006C8449}" type="presParOf" srcId="{F37D0447-9014-4A73-82C9-7E967740C0FD}" destId="{779BE160-0346-491E-8211-D13FEC1CA34D}" srcOrd="6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8F06393-E171-4A31-9605-A7131454E3EF}">
      <dsp:nvSpPr>
        <dsp:cNvPr id="0" name=""/>
        <dsp:cNvSpPr/>
      </dsp:nvSpPr>
      <dsp:spPr>
        <a:xfrm>
          <a:off x="1650" y="417487"/>
          <a:ext cx="1502428" cy="735032"/>
        </a:xfrm>
        <a:prstGeom prst="roundRect">
          <a:avLst>
            <a:gd name="adj" fmla="val 10000"/>
          </a:avLst>
        </a:prstGeom>
        <a:solidFill>
          <a:srgbClr val="C000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lvl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500" kern="1200" dirty="0" smtClean="0"/>
            <a:t>I/P</a:t>
          </a:r>
          <a:endParaRPr lang="en-IN" sz="2500" kern="1200" dirty="0"/>
        </a:p>
      </dsp:txBody>
      <dsp:txXfrm>
        <a:off x="23178" y="439015"/>
        <a:ext cx="1459372" cy="691976"/>
      </dsp:txXfrm>
    </dsp:sp>
    <dsp:sp modelId="{57CCBC54-DD18-41EA-B391-CACC7D0110E0}">
      <dsp:nvSpPr>
        <dsp:cNvPr id="0" name=""/>
        <dsp:cNvSpPr/>
      </dsp:nvSpPr>
      <dsp:spPr>
        <a:xfrm rot="14866">
          <a:off x="1537014" y="309354"/>
          <a:ext cx="1580785" cy="964916"/>
        </a:xfrm>
        <a:prstGeom prst="rightArrow">
          <a:avLst>
            <a:gd name="adj1" fmla="val 60000"/>
            <a:gd name="adj2" fmla="val 5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200" kern="1200" dirty="0" smtClean="0"/>
            <a:t>Linear signal</a:t>
          </a:r>
          <a:endParaRPr lang="en-IN" sz="1200" kern="1200" dirty="0"/>
        </a:p>
      </dsp:txBody>
      <dsp:txXfrm>
        <a:off x="1537015" y="501711"/>
        <a:ext cx="1291310" cy="578950"/>
      </dsp:txXfrm>
    </dsp:sp>
    <dsp:sp modelId="{E939315C-80CB-4EB9-9E73-300B94297114}">
      <dsp:nvSpPr>
        <dsp:cNvPr id="0" name=""/>
        <dsp:cNvSpPr/>
      </dsp:nvSpPr>
      <dsp:spPr>
        <a:xfrm>
          <a:off x="3102773" y="27363"/>
          <a:ext cx="1628140" cy="1542644"/>
        </a:xfrm>
        <a:prstGeom prst="roundRect">
          <a:avLst>
            <a:gd name="adj" fmla="val 10000"/>
          </a:avLst>
        </a:prstGeom>
        <a:solidFill>
          <a:schemeClr val="accent2">
            <a:lumMod val="7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lvl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500" kern="1200" dirty="0" smtClean="0"/>
            <a:t> NN DPD</a:t>
          </a:r>
          <a:endParaRPr lang="en-IN" sz="2500" kern="1200" dirty="0"/>
        </a:p>
      </dsp:txBody>
      <dsp:txXfrm>
        <a:off x="3147956" y="72546"/>
        <a:ext cx="1537774" cy="1452278"/>
      </dsp:txXfrm>
    </dsp:sp>
    <dsp:sp modelId="{30150B3F-6070-44F9-B62A-F09DA1047D1F}">
      <dsp:nvSpPr>
        <dsp:cNvPr id="0" name=""/>
        <dsp:cNvSpPr/>
      </dsp:nvSpPr>
      <dsp:spPr>
        <a:xfrm rot="21586081">
          <a:off x="4751788" y="381555"/>
          <a:ext cx="1517608" cy="821355"/>
        </a:xfrm>
        <a:prstGeom prst="rightArrow">
          <a:avLst>
            <a:gd name="adj1" fmla="val 60000"/>
            <a:gd name="adj2" fmla="val 50000"/>
          </a:avLst>
        </a:prstGeom>
        <a:solidFill>
          <a:schemeClr val="accent4">
            <a:lumMod val="5000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marR="0" lvl="0" indent="0" algn="ctr" defTabSz="914400" eaLnBrk="1" fontAlgn="auto" latinLnBrk="0" hangingPunct="1">
            <a:lnSpc>
              <a:spcPct val="100000"/>
            </a:lnSpc>
            <a:spcBef>
              <a:spcPct val="0"/>
            </a:spcBef>
            <a:spcAft>
              <a:spcPts val="0"/>
            </a:spcAft>
            <a:buClrTx/>
            <a:buSzTx/>
            <a:buFontTx/>
            <a:buNone/>
            <a:tabLst/>
            <a:defRPr/>
          </a:pPr>
          <a:r>
            <a:rPr lang="en-US" sz="1200" kern="1200" dirty="0" smtClean="0"/>
            <a:t> Pre-Distorted signal </a:t>
          </a:r>
          <a:endParaRPr lang="en-IN" sz="1200" kern="1200" dirty="0" smtClean="0"/>
        </a:p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IN" sz="1200" kern="1200" dirty="0" smtClean="0"/>
        </a:p>
      </dsp:txBody>
      <dsp:txXfrm>
        <a:off x="4751789" y="546325"/>
        <a:ext cx="1271202" cy="492813"/>
      </dsp:txXfrm>
    </dsp:sp>
    <dsp:sp modelId="{CDC51E4D-C0DF-4637-B63E-7D7A98D4CF09}">
      <dsp:nvSpPr>
        <dsp:cNvPr id="0" name=""/>
        <dsp:cNvSpPr/>
      </dsp:nvSpPr>
      <dsp:spPr>
        <a:xfrm>
          <a:off x="6244852" y="42349"/>
          <a:ext cx="2102388" cy="1485309"/>
        </a:xfrm>
        <a:prstGeom prst="roundRect">
          <a:avLst>
            <a:gd name="adj" fmla="val 10000"/>
          </a:avLst>
        </a:prstGeom>
        <a:solidFill>
          <a:schemeClr val="accent2">
            <a:lumMod val="60000"/>
            <a:lumOff val="4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lvl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500" kern="1200" dirty="0" smtClean="0"/>
            <a:t>Physical   PA</a:t>
          </a:r>
        </a:p>
        <a:p>
          <a:pPr lvl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500" kern="1200" dirty="0" smtClean="0"/>
            <a:t>(distorts again)</a:t>
          </a:r>
          <a:endParaRPr lang="en-IN" sz="2500" kern="1200" dirty="0"/>
        </a:p>
      </dsp:txBody>
      <dsp:txXfrm>
        <a:off x="6288355" y="85852"/>
        <a:ext cx="2015382" cy="1398303"/>
      </dsp:txXfrm>
    </dsp:sp>
    <dsp:sp modelId="{88400399-EF74-4272-ABB8-5C9284303A7F}">
      <dsp:nvSpPr>
        <dsp:cNvPr id="0" name=""/>
        <dsp:cNvSpPr/>
      </dsp:nvSpPr>
      <dsp:spPr>
        <a:xfrm>
          <a:off x="8349871" y="302545"/>
          <a:ext cx="1597746" cy="964916"/>
        </a:xfrm>
        <a:prstGeom prst="rightArrow">
          <a:avLst>
            <a:gd name="adj1" fmla="val 60000"/>
            <a:gd name="adj2" fmla="val 50000"/>
          </a:avLst>
        </a:prstGeom>
        <a:solidFill>
          <a:srgbClr val="C00000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200" kern="1200" dirty="0" smtClean="0"/>
            <a:t>Linear Amplified</a:t>
          </a:r>
          <a:endParaRPr lang="en-IN" sz="1200" kern="1200" dirty="0"/>
        </a:p>
      </dsp:txBody>
      <dsp:txXfrm>
        <a:off x="8349871" y="495528"/>
        <a:ext cx="1308271" cy="578950"/>
      </dsp:txXfrm>
    </dsp:sp>
    <dsp:sp modelId="{779BE160-0346-491E-8211-D13FEC1CA34D}">
      <dsp:nvSpPr>
        <dsp:cNvPr id="0" name=""/>
        <dsp:cNvSpPr/>
      </dsp:nvSpPr>
      <dsp:spPr>
        <a:xfrm>
          <a:off x="9903557" y="399827"/>
          <a:ext cx="1576548" cy="770353"/>
        </a:xfrm>
        <a:prstGeom prst="roundRect">
          <a:avLst>
            <a:gd name="adj" fmla="val 10000"/>
          </a:avLst>
        </a:prstGeom>
        <a:solidFill>
          <a:schemeClr val="accent2">
            <a:lumMod val="20000"/>
            <a:lumOff val="8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lvl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500" kern="1200" dirty="0" smtClean="0"/>
            <a:t>O/P</a:t>
          </a:r>
          <a:endParaRPr lang="en-IN" sz="2500" kern="1200" dirty="0"/>
        </a:p>
      </dsp:txBody>
      <dsp:txXfrm>
        <a:off x="9926120" y="422390"/>
        <a:ext cx="1531422" cy="72522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A754C9E-76D2-4029-89ED-A26DB3FB7995}">
      <dsp:nvSpPr>
        <dsp:cNvPr id="0" name=""/>
        <dsp:cNvSpPr/>
      </dsp:nvSpPr>
      <dsp:spPr>
        <a:xfrm>
          <a:off x="0" y="292957"/>
          <a:ext cx="1449237" cy="724618"/>
        </a:xfrm>
        <a:prstGeom prst="roundRect">
          <a:avLst>
            <a:gd name="adj" fmla="val 10000"/>
          </a:avLst>
        </a:prstGeom>
        <a:solidFill>
          <a:schemeClr val="accent2">
            <a:lumMod val="7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lvl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100" kern="1200" dirty="0" smtClean="0"/>
            <a:t>Physical PA</a:t>
          </a:r>
          <a:endParaRPr lang="en-IN" sz="2100" kern="1200" dirty="0"/>
        </a:p>
      </dsp:txBody>
      <dsp:txXfrm>
        <a:off x="21223" y="314180"/>
        <a:ext cx="1406791" cy="682172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8F06393-E171-4A31-9605-A7131454E3EF}">
      <dsp:nvSpPr>
        <dsp:cNvPr id="0" name=""/>
        <dsp:cNvSpPr/>
      </dsp:nvSpPr>
      <dsp:spPr>
        <a:xfrm>
          <a:off x="3972" y="263896"/>
          <a:ext cx="1737026" cy="1042215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lvl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300" kern="1200" dirty="0" smtClean="0"/>
            <a:t>I/P</a:t>
          </a:r>
          <a:endParaRPr lang="en-IN" sz="2300" kern="1200" dirty="0"/>
        </a:p>
      </dsp:txBody>
      <dsp:txXfrm>
        <a:off x="34497" y="294421"/>
        <a:ext cx="1675976" cy="981165"/>
      </dsp:txXfrm>
    </dsp:sp>
    <dsp:sp modelId="{57CCBC54-DD18-41EA-B391-CACC7D0110E0}">
      <dsp:nvSpPr>
        <dsp:cNvPr id="0" name=""/>
        <dsp:cNvSpPr/>
      </dsp:nvSpPr>
      <dsp:spPr>
        <a:xfrm>
          <a:off x="1914701" y="569612"/>
          <a:ext cx="368249" cy="430782"/>
        </a:xfrm>
        <a:prstGeom prst="rightArrow">
          <a:avLst>
            <a:gd name="adj1" fmla="val 60000"/>
            <a:gd name="adj2" fmla="val 5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IN" sz="1800" kern="1200"/>
        </a:p>
      </dsp:txBody>
      <dsp:txXfrm>
        <a:off x="1914701" y="655768"/>
        <a:ext cx="257774" cy="258470"/>
      </dsp:txXfrm>
    </dsp:sp>
    <dsp:sp modelId="{E939315C-80CB-4EB9-9E73-300B94297114}">
      <dsp:nvSpPr>
        <dsp:cNvPr id="0" name=""/>
        <dsp:cNvSpPr/>
      </dsp:nvSpPr>
      <dsp:spPr>
        <a:xfrm>
          <a:off x="2435809" y="263896"/>
          <a:ext cx="1737026" cy="1042215"/>
        </a:xfrm>
        <a:prstGeom prst="roundRect">
          <a:avLst>
            <a:gd name="adj" fmla="val 10000"/>
          </a:avLst>
        </a:prstGeom>
        <a:solidFill>
          <a:schemeClr val="accent4">
            <a:hueOff val="3266964"/>
            <a:satOff val="-13592"/>
            <a:lumOff val="320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lvl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300" kern="1200" dirty="0" smtClean="0"/>
            <a:t>NN DPD</a:t>
          </a:r>
          <a:endParaRPr lang="en-IN" sz="2300" kern="1200" dirty="0"/>
        </a:p>
      </dsp:txBody>
      <dsp:txXfrm>
        <a:off x="2466334" y="294421"/>
        <a:ext cx="1675976" cy="981165"/>
      </dsp:txXfrm>
    </dsp:sp>
    <dsp:sp modelId="{30150B3F-6070-44F9-B62A-F09DA1047D1F}">
      <dsp:nvSpPr>
        <dsp:cNvPr id="0" name=""/>
        <dsp:cNvSpPr/>
      </dsp:nvSpPr>
      <dsp:spPr>
        <a:xfrm>
          <a:off x="4346538" y="569612"/>
          <a:ext cx="368249" cy="430782"/>
        </a:xfrm>
        <a:prstGeom prst="rightArrow">
          <a:avLst>
            <a:gd name="adj1" fmla="val 60000"/>
            <a:gd name="adj2" fmla="val 50000"/>
          </a:avLst>
        </a:prstGeom>
        <a:solidFill>
          <a:schemeClr val="accent4">
            <a:hueOff val="4900445"/>
            <a:satOff val="-20388"/>
            <a:lumOff val="4804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IN" sz="1800" kern="1200"/>
        </a:p>
      </dsp:txBody>
      <dsp:txXfrm>
        <a:off x="4346538" y="655768"/>
        <a:ext cx="257774" cy="258470"/>
      </dsp:txXfrm>
    </dsp:sp>
    <dsp:sp modelId="{CDC51E4D-C0DF-4637-B63E-7D7A98D4CF09}">
      <dsp:nvSpPr>
        <dsp:cNvPr id="0" name=""/>
        <dsp:cNvSpPr/>
      </dsp:nvSpPr>
      <dsp:spPr>
        <a:xfrm>
          <a:off x="4867646" y="263896"/>
          <a:ext cx="1737026" cy="1042215"/>
        </a:xfrm>
        <a:prstGeom prst="roundRect">
          <a:avLst>
            <a:gd name="adj" fmla="val 10000"/>
          </a:avLst>
        </a:prstGeom>
        <a:solidFill>
          <a:schemeClr val="accent4">
            <a:hueOff val="6533927"/>
            <a:satOff val="-27185"/>
            <a:lumOff val="640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lvl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300" kern="1200" dirty="0" smtClean="0"/>
            <a:t>Physical</a:t>
          </a:r>
        </a:p>
        <a:p>
          <a:pPr lvl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300" kern="1200" dirty="0" smtClean="0"/>
            <a:t>PA</a:t>
          </a:r>
          <a:endParaRPr lang="en-IN" sz="2300" kern="1200" dirty="0"/>
        </a:p>
      </dsp:txBody>
      <dsp:txXfrm>
        <a:off x="4898171" y="294421"/>
        <a:ext cx="1675976" cy="981165"/>
      </dsp:txXfrm>
    </dsp:sp>
    <dsp:sp modelId="{88400399-EF74-4272-ABB8-5C9284303A7F}">
      <dsp:nvSpPr>
        <dsp:cNvPr id="0" name=""/>
        <dsp:cNvSpPr/>
      </dsp:nvSpPr>
      <dsp:spPr>
        <a:xfrm>
          <a:off x="6778375" y="569612"/>
          <a:ext cx="368249" cy="430782"/>
        </a:xfrm>
        <a:prstGeom prst="rightArrow">
          <a:avLst>
            <a:gd name="adj1" fmla="val 60000"/>
            <a:gd name="adj2" fmla="val 50000"/>
          </a:avLst>
        </a:prstGeom>
        <a:solidFill>
          <a:schemeClr val="accent4">
            <a:hueOff val="9800891"/>
            <a:satOff val="-40777"/>
            <a:lumOff val="9608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IN" sz="1800" kern="1200"/>
        </a:p>
      </dsp:txBody>
      <dsp:txXfrm>
        <a:off x="6778375" y="655768"/>
        <a:ext cx="257774" cy="258470"/>
      </dsp:txXfrm>
    </dsp:sp>
    <dsp:sp modelId="{779BE160-0346-491E-8211-D13FEC1CA34D}">
      <dsp:nvSpPr>
        <dsp:cNvPr id="0" name=""/>
        <dsp:cNvSpPr/>
      </dsp:nvSpPr>
      <dsp:spPr>
        <a:xfrm>
          <a:off x="7299483" y="263896"/>
          <a:ext cx="1737026" cy="1042215"/>
        </a:xfrm>
        <a:prstGeom prst="roundRect">
          <a:avLst>
            <a:gd name="adj" fmla="val 10000"/>
          </a:avLst>
        </a:prstGeom>
        <a:solidFill>
          <a:schemeClr val="accent4">
            <a:hueOff val="9800891"/>
            <a:satOff val="-40777"/>
            <a:lumOff val="960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lvl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300" kern="1200" dirty="0" smtClean="0"/>
            <a:t>O/P</a:t>
          </a:r>
          <a:endParaRPr lang="en-IN" sz="2300" kern="1200" dirty="0"/>
        </a:p>
      </dsp:txBody>
      <dsp:txXfrm>
        <a:off x="7330008" y="294421"/>
        <a:ext cx="1675976" cy="98116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cycle7">
  <dgm:title val=""/>
  <dgm:desc val=""/>
  <dgm:catLst>
    <dgm:cat type="cycle" pri="6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cycle">
          <dgm:param type="stAng" val="0"/>
          <dgm:param type="spanAng" val="360"/>
        </dgm:alg>
      </dgm:if>
      <dgm:else name="Name3">
        <dgm:alg type="cycle">
          <dgm:param type="stAng" val="0"/>
          <dgm:param type="spanAng" val="-360"/>
        </dgm:alg>
      </dgm:else>
    </dgm:choose>
    <dgm:shape xmlns:r="http://schemas.openxmlformats.org/officeDocument/2006/relationships" r:blip="">
      <dgm:adjLst/>
    </dgm:shape>
    <dgm:presOf/>
    <dgm:constrLst>
      <dgm:constr type="diam" refType="w"/>
      <dgm:constr type="w" for="ch" ptType="node" refType="w"/>
      <dgm:constr type="primFontSz" for="ch" ptType="node" op="equ" val="65"/>
      <dgm:constr type="w" for="ch" forName="sibTrans" refType="w" refFor="ch" refPtType="node" op="equ" fact="0.35"/>
      <dgm:constr type="connDist" for="ch" forName="sibTrans" op="equ"/>
      <dgm:constr type="primFontSz" for="des" forName="connectorText" op="equ" val="55"/>
      <dgm:constr type="primFontSz" for="des" forName="connectorText" refType="primFontSz" refFor="ch" refPtType="node" op="lte" fact="0.8"/>
      <dgm:constr type="sibSp" refType="w" refFor="ch" refPtType="node" op="equ" fact="0.65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5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choose name="Name4">
        <dgm:if name="Name5" axis="par ch" ptType="doc node" func="cnt" op="gt" val="1">
          <dgm:forEach name="sibTransForEach" axis="followSib" ptType="sibTrans" hideLastTrans="0" cnt="1">
            <dgm:layoutNode name="sibTrans">
              <dgm:choose name="Name6">
                <dgm:if name="Name7" axis="par ch" ptType="doc node" func="posEven" op="equ" val="1">
                  <dgm:alg type="conn">
                    <dgm:param type="begPts" val="radial"/>
                    <dgm:param type="endPts" val="radial"/>
                    <dgm:param type="begSty" val="arr"/>
                    <dgm:param type="endSty" val="arr"/>
                  </dgm:alg>
                </dgm:if>
                <dgm:else name="Name8">
                  <dgm:alg type="conn">
                    <dgm:param type="begPts" val="auto"/>
                    <dgm:param type="endPts" val="auto"/>
                    <dgm:param type="begSty" val="arr"/>
                    <dgm:param type="endSty" val="arr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0.5"/>
                <dgm:constr type="connDist"/>
                <dgm:constr type="begPad" refType="connDist" fact="0.1"/>
                <dgm:constr type="endPad" refType="connDist" fact="0.1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9"/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97E959A-99AA-4DC5-B8A1-233922EADD76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C6D386-E1D0-488E-B0CA-67DB87F46A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56641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37DE5A53-307B-23F1-6480-C5C95666492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="" xmlns:a16="http://schemas.microsoft.com/office/drawing/2014/main" id="{7CFB6718-B132-DBF3-015B-90E5ECDA7E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45610D46-F62A-C392-B44D-CBAF2AB25A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38406-F369-475E-9C19-5DC4665C571D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3DE616B4-F31F-74AE-EFBC-348A6C7257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429CF017-7ACB-C81C-1DDC-24672BAA3B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B418A8-0BC9-4AB4-BE80-3E9DFFC854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76803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99D1BCA4-4080-2952-8B26-7FC0764F8C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55463D36-9929-789C-0EBA-D9F42072F5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DF836DCF-3FA0-DFA2-2F8C-26034FBD2E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38406-F369-475E-9C19-5DC4665C571D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E8CE6BBD-9A8A-D683-3D63-1D0D289A69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60328F58-51C8-371D-F13C-FE007210C4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B418A8-0BC9-4AB4-BE80-3E9DFFC854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95849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D1A997E7-B8CA-7B8C-F238-77EEDAA7D0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9ED98863-E084-822E-DC08-DF77C6F1F3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6220ED5A-A547-841A-5D81-21AC7EF2F6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38406-F369-475E-9C19-5DC4665C571D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82BB5C4B-D4CF-E700-E95A-94E3A63119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811757E5-4B8E-1D2F-B706-60F6299B02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B418A8-0BC9-4AB4-BE80-3E9DFFC854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92443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65104269-8CF1-A9B2-4385-C017F095CD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AF3ADC58-B54B-C5E4-89AC-8802131AC99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="" xmlns:a16="http://schemas.microsoft.com/office/drawing/2014/main" id="{D9B35B87-E476-B94A-C541-BC8B6E7088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0169A369-DBAA-9EE5-B5DA-6842635F0D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38406-F369-475E-9C19-5DC4665C571D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08779E3F-FBF5-294E-96B6-42620F845A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4AF151A6-8992-2FF3-4D68-A0DA97DE6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B418A8-0BC9-4AB4-BE80-3E9DFFC854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92680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85A4FEEC-6F48-69C6-C68F-4040415090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29DEA942-7DC2-4F50-D4B1-504B8E575E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="" xmlns:a16="http://schemas.microsoft.com/office/drawing/2014/main" id="{8ECAD973-73A1-3E81-C5A9-C7E7A7B9F8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="" xmlns:a16="http://schemas.microsoft.com/office/drawing/2014/main" id="{CDA10918-FC71-31F7-0643-28A102D07AE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="" xmlns:a16="http://schemas.microsoft.com/office/drawing/2014/main" id="{DD75F6DC-32BF-899A-3D3F-3B37BD1189D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="" xmlns:a16="http://schemas.microsoft.com/office/drawing/2014/main" id="{0A7316F3-1548-242B-8282-1AF1A6E14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38406-F369-475E-9C19-5DC4665C571D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="" xmlns:a16="http://schemas.microsoft.com/office/drawing/2014/main" id="{85A030F7-0BB8-5B52-1CDC-43C921B714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="" xmlns:a16="http://schemas.microsoft.com/office/drawing/2014/main" id="{C1C227F7-CCF3-DDE2-4B29-5D49E87597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B418A8-0BC9-4AB4-BE80-3E9DFFC854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5470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B4EDD254-C7F4-8A92-E4AD-DC2B6E644C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E3AA6F14-40BF-50B5-73E3-2547E167C0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38406-F369-475E-9C19-5DC4665C571D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="" xmlns:a16="http://schemas.microsoft.com/office/drawing/2014/main" id="{C275A8F8-7FC7-EB33-831C-447400866E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A895B05E-C197-1C3D-E532-40F281D569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B418A8-0BC9-4AB4-BE80-3E9DFFC854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302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="" xmlns:a16="http://schemas.microsoft.com/office/drawing/2014/main" id="{1C39E03E-21DA-08B1-6114-3943027ECE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38406-F369-475E-9C19-5DC4665C571D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="" xmlns:a16="http://schemas.microsoft.com/office/drawing/2014/main" id="{99AAEB44-0F6C-D362-DC76-3323EC6085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879AEBC9-5F63-4698-DEF8-0E75AC6174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B418A8-0BC9-4AB4-BE80-3E9DFFC854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73441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AB6EAEEC-FF22-C4D0-B767-8C8A1EA774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6DE1A2F9-D940-7334-ABB6-13DB36EC0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="" xmlns:a16="http://schemas.microsoft.com/office/drawing/2014/main" id="{399B8302-CAD6-D975-F9C9-C9E5835951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56344AFF-2250-1BB9-7A42-A8250CD575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38406-F369-475E-9C19-5DC4665C571D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2B604473-6C39-4BFD-FDC0-5AB2012FCF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D60CD971-C202-023A-000F-A7C1412574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B418A8-0BC9-4AB4-BE80-3E9DFFC854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41441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D99B9EB4-554F-51DC-581A-8C63457C53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="" xmlns:a16="http://schemas.microsoft.com/office/drawing/2014/main" id="{82FE16B1-5679-AF7F-E0D0-C1074583050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="" xmlns:a16="http://schemas.microsoft.com/office/drawing/2014/main" id="{8D7B266C-78A4-4FBD-55F8-1956252603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05E8BCA1-7634-C667-4EC5-C4B7727373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38406-F369-475E-9C19-5DC4665C571D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8B63240D-E2A0-AF42-7916-EBAABAD06F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6B4ACB81-3B84-542E-AA3E-B297651D1E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B418A8-0BC9-4AB4-BE80-3E9DFFC854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07062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30614624-8C62-F3B6-D728-B219E4F95A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="" xmlns:a16="http://schemas.microsoft.com/office/drawing/2014/main" id="{AE327B83-B2FB-B0A6-68BD-51173ED6F70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5446D0D4-CB09-0A2C-90A6-C5FDA3C8B3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38406-F369-475E-9C19-5DC4665C571D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A96A6E0D-7BE1-993F-B052-10169566FE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513BA442-4619-BFA5-B04B-1D0B864DA2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B418A8-0BC9-4AB4-BE80-3E9DFFC854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01053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="" xmlns:a16="http://schemas.microsoft.com/office/drawing/2014/main" id="{53BAB80C-71BD-A9AF-D751-D188B83A029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="" xmlns:a16="http://schemas.microsoft.com/office/drawing/2014/main" id="{95F30A9B-0381-2F2A-D9C6-5F8826C3C2A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8FCE7E3A-3F85-AC52-99ED-7A802A1FFE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38406-F369-475E-9C19-5DC4665C571D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280B8CED-FABD-C6D0-8587-AE1C591706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9E147AFE-D1A5-FA9E-3D7E-FDC75D9E7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B418A8-0BC9-4AB4-BE80-3E9DFFC854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25051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="" xmlns:a16="http://schemas.microsoft.com/office/drawing/2014/main" id="{417E4D96-4F18-AC9C-8852-8B555533FC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B99521D9-98C1-9888-9E3A-27B25E07BD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00D4517B-D5BD-0F2B-60C9-D125ED32333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138406-F369-475E-9C19-5DC4665C571D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EAB6FDB5-59D5-375A-7045-38F21D4615D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6797077E-3C89-EA98-4830-ADA7EFDA16E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B418A8-0BC9-4AB4-BE80-3E9DFFC854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92834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="" xmlns:a16="http://schemas.microsoft.com/office/drawing/2014/main" id="{27ABD1F9-A938-5699-104B-4E305A348A01}"/>
              </a:ext>
            </a:extLst>
          </p:cNvPr>
          <p:cNvSpPr txBox="1"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US" sz="3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Contents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="" xmlns:a16="http://schemas.microsoft.com/office/drawing/2014/main" id="{45A69682-5E1C-DF6F-AB2B-AA052216E563}"/>
              </a:ext>
            </a:extLst>
          </p:cNvPr>
          <p:cNvSpPr txBox="1"/>
          <p:nvPr/>
        </p:nvSpPr>
        <p:spPr>
          <a:xfrm>
            <a:off x="819964" y="1385192"/>
            <a:ext cx="9758838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800" dirty="0" smtClean="0"/>
              <a:t>Introduction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800" dirty="0" smtClean="0">
                <a:ln w="0"/>
              </a:rPr>
              <a:t>Model Architecture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800" dirty="0" smtClean="0">
                <a:ln w="0"/>
              </a:rPr>
              <a:t>Building </a:t>
            </a:r>
            <a:r>
              <a:rPr lang="en-US" sz="2800" dirty="0">
                <a:ln w="0"/>
              </a:rPr>
              <a:t>NN PA 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800" dirty="0" smtClean="0"/>
              <a:t>Various </a:t>
            </a:r>
            <a:r>
              <a:rPr lang="en-US" sz="2800" dirty="0"/>
              <a:t>Models Results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800" dirty="0"/>
              <a:t>Conclusion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9412130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EDCEED06-578E-33BA-8073-5CDB038F8C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="" xmlns:a16="http://schemas.microsoft.com/office/drawing/2014/main" id="{41E757A2-3013-ABB6-FCB0-EC7D333D0012}"/>
              </a:ext>
            </a:extLst>
          </p:cNvPr>
          <p:cNvSpPr txBox="1"/>
          <p:nvPr/>
        </p:nvSpPr>
        <p:spPr>
          <a:xfrm>
            <a:off x="0" y="-1"/>
            <a:ext cx="12192000" cy="914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US" sz="3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Introduction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FDD72A37-57CE-74DF-E1B9-98F51381BBCA}"/>
              </a:ext>
            </a:extLst>
          </p:cNvPr>
          <p:cNvSpPr txBox="1"/>
          <p:nvPr/>
        </p:nvSpPr>
        <p:spPr>
          <a:xfrm>
            <a:off x="426772" y="1601168"/>
            <a:ext cx="11413067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n-US" b="1" dirty="0"/>
              <a:t>Problem Statement</a:t>
            </a:r>
            <a:r>
              <a:rPr lang="en-US" dirty="0"/>
              <a:t>: </a:t>
            </a:r>
          </a:p>
          <a:p>
            <a:pPr lvl="1"/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 smtClean="0"/>
              <a:t>Power Amplifier cause non-</a:t>
            </a:r>
            <a:r>
              <a:rPr lang="en-US" dirty="0" err="1" smtClean="0"/>
              <a:t>linearities</a:t>
            </a:r>
            <a:r>
              <a:rPr lang="en-US" dirty="0" smtClean="0"/>
              <a:t> near saturation.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 smtClean="0"/>
              <a:t>Digital Pre Distorter(DPD) is used to compensate the non </a:t>
            </a:r>
            <a:r>
              <a:rPr lang="en-US" dirty="0" err="1" smtClean="0"/>
              <a:t>linearities</a:t>
            </a:r>
            <a:r>
              <a:rPr lang="en-US" dirty="0" smtClean="0"/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 smtClean="0"/>
              <a:t>A Neural </a:t>
            </a:r>
            <a:r>
              <a:rPr lang="en-US" dirty="0"/>
              <a:t>N</a:t>
            </a:r>
            <a:r>
              <a:rPr lang="en-US" dirty="0" smtClean="0"/>
              <a:t>etwork (NN) based DPD can adapt to the changes in the PA function.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 smtClean="0"/>
              <a:t>Training such DPD is time consuming and resource heavy. 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 smtClean="0"/>
              <a:t>The project helps solve the problem by creating a NN PA </a:t>
            </a:r>
            <a:r>
              <a:rPr lang="en-US" dirty="0" err="1" smtClean="0"/>
              <a:t>behavioural</a:t>
            </a:r>
            <a:r>
              <a:rPr lang="en-US" dirty="0" smtClean="0"/>
              <a:t> model which simulates the physical PA and aids in training the NN based DPD.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lvl="1"/>
            <a:r>
              <a:rPr lang="en-US" b="1" dirty="0"/>
              <a:t>Project Scope</a:t>
            </a:r>
            <a:r>
              <a:rPr lang="en-US" dirty="0"/>
              <a:t>: </a:t>
            </a:r>
          </a:p>
          <a:p>
            <a:pPr lvl="1"/>
            <a:endParaRPr lang="en-US" dirty="0"/>
          </a:p>
          <a:p>
            <a:pPr marL="744538" lvl="1" indent="-287338">
              <a:buFont typeface="Arial" panose="020B0604020202020204" pitchFamily="34" charset="0"/>
              <a:buChar char="•"/>
            </a:pPr>
            <a:r>
              <a:rPr lang="en-US" dirty="0" smtClean="0"/>
              <a:t>Create a NN based PA model which aptly simulates real PA behavior.</a:t>
            </a:r>
          </a:p>
          <a:p>
            <a:pPr marL="744538" lvl="1" indent="-287338">
              <a:buFont typeface="Arial" panose="020B0604020202020204" pitchFamily="34" charset="0"/>
              <a:buChar char="•"/>
            </a:pPr>
            <a:r>
              <a:rPr lang="en-US" dirty="0" smtClean="0"/>
              <a:t>Compare various deep </a:t>
            </a:r>
            <a:r>
              <a:rPr lang="en-US" dirty="0"/>
              <a:t>learning </a:t>
            </a:r>
            <a:r>
              <a:rPr lang="en-US" dirty="0" smtClean="0"/>
              <a:t>DPD models on previously created PA model.</a:t>
            </a:r>
          </a:p>
          <a:p>
            <a:pPr marL="744538" lvl="1" indent="-287338">
              <a:buFont typeface="Arial" panose="020B0604020202020204" pitchFamily="34" charset="0"/>
              <a:buChar char="•"/>
            </a:pPr>
            <a:r>
              <a:rPr lang="en-US" dirty="0" smtClean="0"/>
              <a:t> Identify </a:t>
            </a:r>
            <a:r>
              <a:rPr lang="en-US" dirty="0"/>
              <a:t>the best model based on </a:t>
            </a:r>
            <a:r>
              <a:rPr lang="en-US" dirty="0" smtClean="0"/>
              <a:t>EVM, NMSE and ACPR values.</a:t>
            </a:r>
            <a:endParaRPr lang="en-US" dirty="0"/>
          </a:p>
          <a:p>
            <a:pPr marL="744538" lvl="1" indent="-287338">
              <a:buFont typeface="Arial" panose="020B0604020202020204" pitchFamily="34" charset="0"/>
              <a:buChar char="•"/>
            </a:pPr>
            <a:r>
              <a:rPr lang="en-US" dirty="0"/>
              <a:t>Provide insights for practical applications </a:t>
            </a:r>
            <a:r>
              <a:rPr lang="en-US" dirty="0" smtClean="0"/>
              <a:t>for different PA conditions.</a:t>
            </a:r>
            <a:endParaRPr lang="en-US" dirty="0"/>
          </a:p>
          <a:p>
            <a:pPr lvl="1"/>
            <a:endParaRPr lang="en-US" dirty="0"/>
          </a:p>
          <a:p>
            <a:pPr lvl="1"/>
            <a:endParaRPr lang="en-US" sz="1800" dirty="0"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944595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69413784-AE47-5E52-0125-D17C181D5C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="" xmlns:a16="http://schemas.microsoft.com/office/drawing/2014/main" id="{0618B06A-EE48-D725-5FD6-69ED2507092C}"/>
              </a:ext>
            </a:extLst>
          </p:cNvPr>
          <p:cNvSpPr txBox="1"/>
          <p:nvPr/>
        </p:nvSpPr>
        <p:spPr>
          <a:xfrm>
            <a:off x="0" y="164811"/>
            <a:ext cx="12192000" cy="5847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US" sz="3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Model Architecture</a:t>
            </a:r>
          </a:p>
        </p:txBody>
      </p:sp>
      <p:graphicFrame>
        <p:nvGraphicFramePr>
          <p:cNvPr id="16" name="Diagram 15"/>
          <p:cNvGraphicFramePr/>
          <p:nvPr>
            <p:extLst>
              <p:ext uri="{D42A27DB-BD31-4B8C-83A1-F6EECF244321}">
                <p14:modId xmlns:p14="http://schemas.microsoft.com/office/powerpoint/2010/main" val="1913143785"/>
              </p:ext>
            </p:extLst>
          </p:nvPr>
        </p:nvGraphicFramePr>
        <p:xfrm>
          <a:off x="414068" y="1630392"/>
          <a:ext cx="11481757" cy="157000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220309" y="3950898"/>
            <a:ext cx="1716657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>
                <a:solidFill>
                  <a:schemeClr val="bg1"/>
                </a:solidFill>
              </a:rPr>
              <a:t>P</a:t>
            </a:r>
            <a:r>
              <a:rPr lang="en-US" dirty="0" smtClean="0"/>
              <a:t>PA </a:t>
            </a:r>
            <a:r>
              <a:rPr lang="en-US" dirty="0"/>
              <a:t>characteristics may </a:t>
            </a:r>
            <a:r>
              <a:rPr lang="en-US" b="1" dirty="0"/>
              <a:t>vary with aging, temperature, and operating point</a:t>
            </a:r>
            <a:r>
              <a:rPr lang="en-US" dirty="0"/>
              <a:t>.</a:t>
            </a:r>
          </a:p>
          <a:p>
            <a:pPr algn="ctr"/>
            <a:r>
              <a:rPr lang="en-US" dirty="0" smtClean="0">
                <a:solidFill>
                  <a:schemeClr val="bg1"/>
                </a:solidFill>
              </a:rPr>
              <a:t>s </a:t>
            </a:r>
            <a:r>
              <a:rPr lang="en-US" dirty="0">
                <a:solidFill>
                  <a:schemeClr val="bg1"/>
                </a:solidFill>
              </a:rPr>
              <a:t>may </a:t>
            </a:r>
            <a:r>
              <a:rPr lang="en-US" b="1" dirty="0">
                <a:solidFill>
                  <a:schemeClr val="bg1"/>
                </a:solidFill>
              </a:rPr>
              <a:t>vary with aging, temperature, and operating point</a:t>
            </a:r>
            <a:r>
              <a:rPr lang="en-US" dirty="0">
                <a:solidFill>
                  <a:schemeClr val="bg1"/>
                </a:solidFill>
              </a:rPr>
              <a:t>.</a:t>
            </a:r>
            <a:endParaRPr lang="en-IN" dirty="0">
              <a:solidFill>
                <a:schemeClr val="bg1"/>
              </a:solidFill>
            </a:endParaRPr>
          </a:p>
        </p:txBody>
      </p:sp>
      <p:cxnSp>
        <p:nvCxnSpPr>
          <p:cNvPr id="7" name="Straight Arrow Connector 6"/>
          <p:cNvCxnSpPr/>
          <p:nvPr/>
        </p:nvCxnSpPr>
        <p:spPr>
          <a:xfrm flipH="1" flipV="1">
            <a:off x="7522234" y="3148641"/>
            <a:ext cx="181155" cy="80225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4041476" y="3888454"/>
            <a:ext cx="1457864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 </a:t>
            </a:r>
            <a:r>
              <a:rPr lang="en-US" b="1" dirty="0"/>
              <a:t>digital pre-distortion model</a:t>
            </a:r>
            <a:r>
              <a:rPr lang="en-US" dirty="0"/>
              <a:t> that learns the </a:t>
            </a:r>
            <a:r>
              <a:rPr lang="en-US" b="1" dirty="0"/>
              <a:t>inverse characteristics of the PA</a:t>
            </a:r>
            <a:r>
              <a:rPr lang="en-US" dirty="0"/>
              <a:t>.</a:t>
            </a:r>
            <a:endParaRPr lang="en-IN" dirty="0"/>
          </a:p>
        </p:txBody>
      </p:sp>
      <p:cxnSp>
        <p:nvCxnSpPr>
          <p:cNvPr id="11" name="Straight Arrow Connector 10"/>
          <p:cNvCxnSpPr/>
          <p:nvPr/>
        </p:nvCxnSpPr>
        <p:spPr>
          <a:xfrm flipV="1">
            <a:off x="4770408" y="3010619"/>
            <a:ext cx="224286" cy="94027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751416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FFFF7F00-3EFF-9BA1-B773-B6865E6DBB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="" xmlns:a16="http://schemas.microsoft.com/office/drawing/2014/main" id="{28CEA5FF-0403-24F8-2083-4C6B68279DC8}"/>
              </a:ext>
            </a:extLst>
          </p:cNvPr>
          <p:cNvSpPr txBox="1"/>
          <p:nvPr/>
        </p:nvSpPr>
        <p:spPr>
          <a:xfrm>
            <a:off x="0" y="164811"/>
            <a:ext cx="12192000" cy="5847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US" sz="32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Building NN PA </a:t>
            </a:r>
            <a:endParaRPr lang="en-US" sz="32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="" xmlns:a16="http://schemas.microsoft.com/office/drawing/2014/main" id="{18C7D21B-3868-956F-6892-3721998E8315}"/>
              </a:ext>
            </a:extLst>
          </p:cNvPr>
          <p:cNvSpPr txBox="1"/>
          <p:nvPr/>
        </p:nvSpPr>
        <p:spPr>
          <a:xfrm>
            <a:off x="4893733" y="1187946"/>
            <a:ext cx="7001932" cy="44319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Neural Network–Based Power Amplifier (NN-PA) </a:t>
            </a:r>
            <a:endParaRPr lang="en-US" sz="2400" b="1" dirty="0" smtClean="0"/>
          </a:p>
          <a:p>
            <a:pPr algn="ctr"/>
            <a:endParaRPr lang="en-US" sz="2400" b="1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The </a:t>
            </a:r>
            <a:r>
              <a:rPr lang="en-US" b="1" dirty="0"/>
              <a:t>NN-PA</a:t>
            </a:r>
            <a:r>
              <a:rPr lang="en-US" dirty="0"/>
              <a:t> is a </a:t>
            </a:r>
            <a:r>
              <a:rPr lang="en-US" b="1" dirty="0"/>
              <a:t>data-driven surrogate model</a:t>
            </a:r>
            <a:r>
              <a:rPr lang="en-US" dirty="0"/>
              <a:t> used to emulate a nonlinear power amplifier with memory effects.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Input features consist of </a:t>
            </a:r>
            <a:r>
              <a:rPr lang="en-US" b="1" dirty="0"/>
              <a:t>I/Q samples along with delayed memory taps</a:t>
            </a:r>
            <a:r>
              <a:rPr lang="en-US" dirty="0"/>
              <a:t>, enabling the model to learn </a:t>
            </a:r>
            <a:r>
              <a:rPr lang="en-US" b="1" dirty="0"/>
              <a:t>dynamic PA behavior</a:t>
            </a:r>
            <a:r>
              <a:rPr lang="en-US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 </a:t>
            </a:r>
            <a:r>
              <a:rPr lang="en-US" b="1" dirty="0"/>
              <a:t>deep </a:t>
            </a:r>
            <a:r>
              <a:rPr lang="en-US" b="1" dirty="0" smtClean="0"/>
              <a:t>feed forward </a:t>
            </a:r>
            <a:r>
              <a:rPr lang="en-US" b="1" dirty="0"/>
              <a:t>neural network</a:t>
            </a:r>
            <a:r>
              <a:rPr lang="en-US" dirty="0"/>
              <a:t> maps input features to distorted </a:t>
            </a:r>
            <a:r>
              <a:rPr lang="en-US" b="1" dirty="0"/>
              <a:t>output I/Q samples</a:t>
            </a:r>
            <a:r>
              <a:rPr lang="en-US" dirty="0"/>
              <a:t>, implicitly learning </a:t>
            </a:r>
            <a:r>
              <a:rPr lang="en-US" b="1" dirty="0"/>
              <a:t>AM-AM and AM-PM nonlinearities</a:t>
            </a:r>
            <a:r>
              <a:rPr lang="en-US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model is trained using </a:t>
            </a:r>
            <a:r>
              <a:rPr lang="en-US" b="1" dirty="0"/>
              <a:t>supervised learning</a:t>
            </a:r>
            <a:r>
              <a:rPr lang="en-US" dirty="0"/>
              <a:t> on input–output data generated from a physical PA model.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After training, the NN-PA is kept </a:t>
            </a:r>
            <a:r>
              <a:rPr lang="en-US" b="1" dirty="0"/>
              <a:t>fixed</a:t>
            </a:r>
            <a:r>
              <a:rPr lang="en-US" dirty="0"/>
              <a:t> and acts as the </a:t>
            </a:r>
            <a:r>
              <a:rPr lang="en-US" b="1" dirty="0"/>
              <a:t>nonlinear plant</a:t>
            </a:r>
            <a:r>
              <a:rPr lang="en-US" dirty="0"/>
              <a:t> for all DPD experiments.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This ensures a </a:t>
            </a:r>
            <a:r>
              <a:rPr lang="en-US" b="1" dirty="0"/>
              <a:t>fair and controlled comparison</a:t>
            </a:r>
            <a:r>
              <a:rPr lang="en-US" dirty="0"/>
              <a:t> of different DPD architectures (MLP, RNN, GRU, LSTM) under identical PA conditions.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="" xmlns:a16="http://schemas.microsoft.com/office/drawing/2014/main" id="{9D34793B-6D09-811D-79B2-5C7BFA65AFDA}"/>
              </a:ext>
            </a:extLst>
          </p:cNvPr>
          <p:cNvSpPr txBox="1"/>
          <p:nvPr/>
        </p:nvSpPr>
        <p:spPr>
          <a:xfrm>
            <a:off x="801523" y="4045336"/>
            <a:ext cx="361760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P</a:t>
            </a:r>
            <a:r>
              <a:rPr lang="en-US" b="1" dirty="0" smtClean="0"/>
              <a:t>hysical </a:t>
            </a:r>
            <a:r>
              <a:rPr lang="en-US" b="1" dirty="0"/>
              <a:t>PA </a:t>
            </a:r>
            <a:r>
              <a:rPr lang="en-US" b="1" dirty="0" smtClean="0"/>
              <a:t>input and output used for </a:t>
            </a:r>
            <a:r>
              <a:rPr lang="en-US" b="1" dirty="0"/>
              <a:t>NN PA </a:t>
            </a:r>
            <a:r>
              <a:rPr lang="en-US" b="1" dirty="0" smtClean="0"/>
              <a:t>training.</a:t>
            </a:r>
            <a:endParaRPr lang="en-US" b="1" dirty="0"/>
          </a:p>
        </p:txBody>
      </p:sp>
      <p:graphicFrame>
        <p:nvGraphicFramePr>
          <p:cNvPr id="3" name="Diagram 2"/>
          <p:cNvGraphicFramePr/>
          <p:nvPr>
            <p:extLst>
              <p:ext uri="{D42A27DB-BD31-4B8C-83A1-F6EECF244321}">
                <p14:modId xmlns:p14="http://schemas.microsoft.com/office/powerpoint/2010/main" val="1275753979"/>
              </p:ext>
            </p:extLst>
          </p:nvPr>
        </p:nvGraphicFramePr>
        <p:xfrm>
          <a:off x="1871932" y="1570008"/>
          <a:ext cx="1449237" cy="114731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Right Arrow 3"/>
          <p:cNvSpPr/>
          <p:nvPr/>
        </p:nvSpPr>
        <p:spPr>
          <a:xfrm>
            <a:off x="3324307" y="1920329"/>
            <a:ext cx="1061049" cy="612476"/>
          </a:xfrm>
          <a:prstGeom prst="rightArrow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/>
              <a:t>rx</a:t>
            </a:r>
            <a:endParaRPr lang="en-IN" dirty="0"/>
          </a:p>
        </p:txBody>
      </p:sp>
      <p:sp>
        <p:nvSpPr>
          <p:cNvPr id="12" name="Right Arrow 11"/>
          <p:cNvSpPr/>
          <p:nvPr/>
        </p:nvSpPr>
        <p:spPr>
          <a:xfrm>
            <a:off x="767751" y="1920329"/>
            <a:ext cx="1122578" cy="62934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/>
              <a:t>tx</a:t>
            </a:r>
            <a:endParaRPr lang="en-IN" dirty="0"/>
          </a:p>
        </p:txBody>
      </p:sp>
      <p:sp>
        <p:nvSpPr>
          <p:cNvPr id="10" name="Rounded Rectangle 9"/>
          <p:cNvSpPr/>
          <p:nvPr/>
        </p:nvSpPr>
        <p:spPr>
          <a:xfrm>
            <a:off x="1896345" y="2917407"/>
            <a:ext cx="1427962" cy="66423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NN PA</a:t>
            </a:r>
            <a:endParaRPr lang="en-IN" dirty="0"/>
          </a:p>
        </p:txBody>
      </p:sp>
      <p:sp>
        <p:nvSpPr>
          <p:cNvPr id="22" name="Bent-Up Arrow 21"/>
          <p:cNvSpPr/>
          <p:nvPr/>
        </p:nvSpPr>
        <p:spPr>
          <a:xfrm rot="5400000">
            <a:off x="789582" y="2593850"/>
            <a:ext cx="1297186" cy="905773"/>
          </a:xfrm>
          <a:prstGeom prst="bentUpArrow">
            <a:avLst>
              <a:gd name="adj1" fmla="val 27439"/>
              <a:gd name="adj2" fmla="val 50000"/>
              <a:gd name="adj3" fmla="val 25000"/>
            </a:avLst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Bent-Up Arrow 22"/>
          <p:cNvSpPr/>
          <p:nvPr/>
        </p:nvSpPr>
        <p:spPr>
          <a:xfrm>
            <a:off x="3323574" y="2401980"/>
            <a:ext cx="955128" cy="1030854"/>
          </a:xfrm>
          <a:prstGeom prst="bentUpArrow">
            <a:avLst>
              <a:gd name="adj1" fmla="val 27439"/>
              <a:gd name="adj2" fmla="val 50000"/>
              <a:gd name="adj3" fmla="val 25000"/>
            </a:avLst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287954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69413784-AE47-5E52-0125-D17C181D5C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="" xmlns:a16="http://schemas.microsoft.com/office/drawing/2014/main" id="{0618B06A-EE48-D725-5FD6-69ED2507092C}"/>
              </a:ext>
            </a:extLst>
          </p:cNvPr>
          <p:cNvSpPr txBox="1"/>
          <p:nvPr/>
        </p:nvSpPr>
        <p:spPr>
          <a:xfrm>
            <a:off x="0" y="164811"/>
            <a:ext cx="12192000" cy="5847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US" sz="32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Model Architecture</a:t>
            </a:r>
            <a:endParaRPr lang="en-US" sz="32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graphicFrame>
        <p:nvGraphicFramePr>
          <p:cNvPr id="16" name="Diagram 15"/>
          <p:cNvGraphicFramePr/>
          <p:nvPr>
            <p:extLst>
              <p:ext uri="{D42A27DB-BD31-4B8C-83A1-F6EECF244321}">
                <p14:modId xmlns:p14="http://schemas.microsoft.com/office/powerpoint/2010/main" val="2468589677"/>
              </p:ext>
            </p:extLst>
          </p:nvPr>
        </p:nvGraphicFramePr>
        <p:xfrm>
          <a:off x="1587259" y="1630392"/>
          <a:ext cx="9040483" cy="157000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8" name="Down Arrow 17"/>
          <p:cNvSpPr/>
          <p:nvPr/>
        </p:nvSpPr>
        <p:spPr>
          <a:xfrm>
            <a:off x="7228936" y="3140014"/>
            <a:ext cx="484632" cy="1147313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Rectangle 18"/>
          <p:cNvSpPr/>
          <p:nvPr/>
        </p:nvSpPr>
        <p:spPr>
          <a:xfrm>
            <a:off x="6574104" y="4390845"/>
            <a:ext cx="1794295" cy="1009291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 smtClean="0"/>
              <a:t>NN PA</a:t>
            </a:r>
            <a:endParaRPr lang="en-IN" sz="4000" dirty="0"/>
          </a:p>
        </p:txBody>
      </p:sp>
      <p:sp>
        <p:nvSpPr>
          <p:cNvPr id="20" name="Bent Arrow 19"/>
          <p:cNvSpPr/>
          <p:nvPr/>
        </p:nvSpPr>
        <p:spPr>
          <a:xfrm rot="16200000">
            <a:off x="4336270" y="3467878"/>
            <a:ext cx="2087593" cy="1431865"/>
          </a:xfrm>
          <a:prstGeom prst="bentArrow">
            <a:avLst>
              <a:gd name="adj1" fmla="val 25602"/>
              <a:gd name="adj2" fmla="val 25000"/>
              <a:gd name="adj3" fmla="val 25000"/>
              <a:gd name="adj4" fmla="val 43750"/>
            </a:avLst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540000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accent4">
                    <a:lumMod val="50000"/>
                  </a:schemeClr>
                </a:solidFill>
              </a:rPr>
              <a:t>TRAIN</a:t>
            </a:r>
            <a:endParaRPr lang="en-IN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3864633" y="5762445"/>
            <a:ext cx="64611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Physical PA behavior simulated by NN PA for training DPD NN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31007617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C6387B7E-5A3C-96EC-82AD-06763D14E7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0F185276-E1AC-8C30-4C6D-A7DB018E012B}"/>
              </a:ext>
            </a:extLst>
          </p:cNvPr>
          <p:cNvSpPr txBox="1"/>
          <p:nvPr/>
        </p:nvSpPr>
        <p:spPr>
          <a:xfrm>
            <a:off x="-1" y="164812"/>
            <a:ext cx="12192000" cy="5847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US" sz="32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RNN</a:t>
            </a:r>
            <a:endParaRPr lang="en-US" sz="32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384875" y="2104844"/>
            <a:ext cx="3807124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/>
              <a:t> </a:t>
            </a:r>
            <a:r>
              <a:rPr lang="fr-FR" b="1" dirty="0"/>
              <a:t>IMPROVEMENT </a:t>
            </a:r>
          </a:p>
          <a:p>
            <a:r>
              <a:rPr lang="fr-FR" dirty="0" smtClean="0"/>
              <a:t>NMSE </a:t>
            </a:r>
            <a:r>
              <a:rPr lang="fr-FR" dirty="0" err="1"/>
              <a:t>Improvement</a:t>
            </a:r>
            <a:r>
              <a:rPr lang="fr-FR" dirty="0"/>
              <a:t>: 10.50 </a:t>
            </a:r>
            <a:r>
              <a:rPr lang="fr-FR" dirty="0" smtClean="0"/>
              <a:t>dB</a:t>
            </a:r>
          </a:p>
          <a:p>
            <a:r>
              <a:rPr lang="fr-FR" dirty="0" smtClean="0"/>
              <a:t>EVM </a:t>
            </a:r>
            <a:r>
              <a:rPr lang="fr-FR" dirty="0" err="1"/>
              <a:t>Improvement</a:t>
            </a:r>
            <a:r>
              <a:rPr lang="fr-FR" dirty="0"/>
              <a:t>: 18.00 % </a:t>
            </a:r>
            <a:endParaRPr lang="fr-FR" dirty="0" smtClean="0"/>
          </a:p>
          <a:p>
            <a:r>
              <a:rPr lang="fr-FR" dirty="0" smtClean="0"/>
              <a:t>ACPR </a:t>
            </a:r>
            <a:r>
              <a:rPr lang="fr-FR" dirty="0" err="1"/>
              <a:t>Improvement</a:t>
            </a:r>
            <a:r>
              <a:rPr lang="fr-FR" dirty="0"/>
              <a:t>: -11.22 </a:t>
            </a:r>
            <a:r>
              <a:rPr lang="fr-FR" dirty="0" smtClean="0"/>
              <a:t>dB</a:t>
            </a:r>
          </a:p>
          <a:p>
            <a:endParaRPr lang="fr-FR" dirty="0"/>
          </a:p>
          <a:p>
            <a:r>
              <a:rPr lang="en-US" b="1" dirty="0"/>
              <a:t>Best suited for</a:t>
            </a:r>
            <a:r>
              <a:rPr lang="en-US" dirty="0"/>
              <a:t> PAs with </a:t>
            </a:r>
            <a:r>
              <a:rPr lang="en-US" b="1" dirty="0"/>
              <a:t>moderate memory effects</a:t>
            </a:r>
            <a:r>
              <a:rPr lang="en-US" dirty="0"/>
              <a:t>, where temporal dependencies between samples are present.</a:t>
            </a:r>
            <a:endParaRPr lang="fr-FR" dirty="0" smtClean="0"/>
          </a:p>
          <a:p>
            <a:endParaRPr lang="fr-FR" dirty="0"/>
          </a:p>
          <a:p>
            <a:r>
              <a:rPr lang="en-US" b="1" dirty="0"/>
              <a:t>Worst performance occurs in highly nonlinear or long-memory scenarios</a:t>
            </a:r>
            <a:r>
              <a:rPr lang="en-US" dirty="0"/>
              <a:t>, where the simple recurrent structure struggles to capture long-term dependencies.</a:t>
            </a:r>
            <a:endParaRPr lang="en-IN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898" t="14027" r="20068" b="5775"/>
          <a:stretch/>
        </p:blipFill>
        <p:spPr>
          <a:xfrm>
            <a:off x="-1" y="914399"/>
            <a:ext cx="7909735" cy="59436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9857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DE667EF3-DEA4-1E5A-2EDE-93711D49F2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="" xmlns:a16="http://schemas.microsoft.com/office/drawing/2014/main" id="{50E89356-309C-3E2D-7DC4-449D8FD90158}"/>
              </a:ext>
            </a:extLst>
          </p:cNvPr>
          <p:cNvSpPr txBox="1"/>
          <p:nvPr/>
        </p:nvSpPr>
        <p:spPr>
          <a:xfrm>
            <a:off x="0" y="-1"/>
            <a:ext cx="12192000" cy="914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US" sz="3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Feed Forward Neural Network</a:t>
            </a:r>
          </a:p>
        </p:txBody>
      </p:sp>
      <p:pic>
        <p:nvPicPr>
          <p:cNvPr id="2" name="Picture 2" descr="Projects – IISc RBCCPS">
            <a:extLst>
              <a:ext uri="{FF2B5EF4-FFF2-40B4-BE49-F238E27FC236}">
                <a16:creationId xmlns="" xmlns:a16="http://schemas.microsoft.com/office/drawing/2014/main" id="{F2C81862-37AD-0294-2AF8-75214D48851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8235"/>
          <a:stretch/>
        </p:blipFill>
        <p:spPr bwMode="auto">
          <a:xfrm>
            <a:off x="5457560" y="6389773"/>
            <a:ext cx="1276879" cy="4682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17" name="Table 16">
            <a:extLst>
              <a:ext uri="{FF2B5EF4-FFF2-40B4-BE49-F238E27FC236}">
                <a16:creationId xmlns="" xmlns:a16="http://schemas.microsoft.com/office/drawing/2014/main" id="{59E54166-2851-1A90-24C9-B865F174A57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0203528"/>
              </p:ext>
            </p:extLst>
          </p:nvPr>
        </p:nvGraphicFramePr>
        <p:xfrm>
          <a:off x="7480663" y="1854948"/>
          <a:ext cx="3706948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53474">
                  <a:extLst>
                    <a:ext uri="{9D8B030D-6E8A-4147-A177-3AD203B41FA5}">
                      <a16:colId xmlns="" xmlns:a16="http://schemas.microsoft.com/office/drawing/2014/main" val="2624437686"/>
                    </a:ext>
                  </a:extLst>
                </a:gridCol>
                <a:gridCol w="1853474">
                  <a:extLst>
                    <a:ext uri="{9D8B030D-6E8A-4147-A177-3AD203B41FA5}">
                      <a16:colId xmlns="" xmlns:a16="http://schemas.microsoft.com/office/drawing/2014/main" val="758868981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Parameter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Value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="" xmlns:a16="http://schemas.microsoft.com/office/drawing/2014/main" val="389756867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iterations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100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="" xmlns:a16="http://schemas.microsoft.com/office/drawing/2014/main" val="239518582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learning_rate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0.001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="" xmlns:a16="http://schemas.microsoft.com/office/drawing/2014/main" val="267074458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hidden layers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="" xmlns:a16="http://schemas.microsoft.com/office/drawing/2014/main" val="317794882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random_state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42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="" xmlns:a16="http://schemas.microsoft.com/office/drawing/2014/main" val="107261515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early_stopping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-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="" xmlns:a16="http://schemas.microsoft.com/office/drawing/2014/main" val="988649600"/>
                  </a:ext>
                </a:extLst>
              </a:tr>
            </a:tbl>
          </a:graphicData>
        </a:graphic>
      </p:graphicFrame>
      <p:sp>
        <p:nvSpPr>
          <p:cNvPr id="23" name="TextBox 22">
            <a:extLst>
              <a:ext uri="{FF2B5EF4-FFF2-40B4-BE49-F238E27FC236}">
                <a16:creationId xmlns="" xmlns:a16="http://schemas.microsoft.com/office/drawing/2014/main" id="{40765187-65A5-12E0-135B-B9B16A7421B6}"/>
              </a:ext>
            </a:extLst>
          </p:cNvPr>
          <p:cNvSpPr txBox="1"/>
          <p:nvPr/>
        </p:nvSpPr>
        <p:spPr>
          <a:xfrm>
            <a:off x="219334" y="5187313"/>
            <a:ext cx="11978471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Standard Deep Learning Model: </a:t>
            </a:r>
            <a:r>
              <a:rPr lang="en-US" dirty="0"/>
              <a:t>Used for structured/tabular data, learning complex relationships between input features.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Multiple Layers: </a:t>
            </a:r>
            <a:r>
              <a:rPr lang="en-US" dirty="0"/>
              <a:t>Uses multiple hidden layers and nonlinear activation functions to model complex dependencies.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Flexible Architecture: </a:t>
            </a:r>
            <a:r>
              <a:rPr lang="en-US" dirty="0"/>
              <a:t>Easily adaptable for different types of prediction tasks, from regression to classification.</a:t>
            </a:r>
          </a:p>
        </p:txBody>
      </p:sp>
      <p:pic>
        <p:nvPicPr>
          <p:cNvPr id="11266" name="Picture 2" descr="Feedforward neural networks: everything you need to know">
            <a:extLst>
              <a:ext uri="{FF2B5EF4-FFF2-40B4-BE49-F238E27FC236}">
                <a16:creationId xmlns="" xmlns:a16="http://schemas.microsoft.com/office/drawing/2014/main" id="{7206A1DB-BE64-7455-8CC3-D65E986588E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2437"/>
          <a:stretch/>
        </p:blipFill>
        <p:spPr bwMode="auto">
          <a:xfrm>
            <a:off x="805712" y="1723052"/>
            <a:ext cx="6061166" cy="29853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606626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1E0B928F-4C96-873D-70BE-73796F3ADD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="" xmlns:a16="http://schemas.microsoft.com/office/drawing/2014/main" id="{54394548-3C71-0F1E-618C-B6ED0C62F5A8}"/>
              </a:ext>
            </a:extLst>
          </p:cNvPr>
          <p:cNvSpPr txBox="1"/>
          <p:nvPr/>
        </p:nvSpPr>
        <p:spPr>
          <a:xfrm>
            <a:off x="0" y="-1"/>
            <a:ext cx="12192000" cy="914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US" sz="3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Feed Forward Neural Network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069" t="14027" r="19811" b="5622"/>
          <a:stretch/>
        </p:blipFill>
        <p:spPr>
          <a:xfrm>
            <a:off x="0" y="914399"/>
            <a:ext cx="7779780" cy="584871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100205" y="1656272"/>
            <a:ext cx="3925018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 smtClean="0"/>
              <a:t>IMPROVEMENT</a:t>
            </a:r>
            <a:r>
              <a:rPr lang="fr-FR" dirty="0" smtClean="0"/>
              <a:t> </a:t>
            </a:r>
          </a:p>
          <a:p>
            <a:r>
              <a:rPr lang="fr-FR" dirty="0" smtClean="0"/>
              <a:t> NMSE </a:t>
            </a:r>
            <a:r>
              <a:rPr lang="fr-FR" dirty="0" err="1" smtClean="0"/>
              <a:t>Improvement</a:t>
            </a:r>
            <a:r>
              <a:rPr lang="fr-FR" dirty="0" smtClean="0"/>
              <a:t>: 14.06 dB</a:t>
            </a:r>
          </a:p>
          <a:p>
            <a:r>
              <a:rPr lang="fr-FR" dirty="0" smtClean="0"/>
              <a:t>EVM </a:t>
            </a:r>
            <a:r>
              <a:rPr lang="fr-FR" dirty="0" err="1" smtClean="0"/>
              <a:t>Improvement</a:t>
            </a:r>
            <a:r>
              <a:rPr lang="fr-FR" dirty="0" smtClean="0"/>
              <a:t>: 21.29 % </a:t>
            </a:r>
          </a:p>
          <a:p>
            <a:r>
              <a:rPr lang="fr-FR" dirty="0" smtClean="0"/>
              <a:t>ACPR </a:t>
            </a:r>
            <a:r>
              <a:rPr lang="fr-FR" dirty="0" err="1" smtClean="0"/>
              <a:t>Improvement</a:t>
            </a:r>
            <a:r>
              <a:rPr lang="fr-FR" dirty="0" smtClean="0"/>
              <a:t>: -7.13 dB</a:t>
            </a:r>
          </a:p>
          <a:p>
            <a:endParaRPr lang="fr-FR" dirty="0"/>
          </a:p>
          <a:p>
            <a:r>
              <a:rPr lang="en-US" b="1" dirty="0"/>
              <a:t>Best suited for</a:t>
            </a:r>
            <a:r>
              <a:rPr lang="en-US" dirty="0"/>
              <a:t> PAs with </a:t>
            </a:r>
            <a:r>
              <a:rPr lang="en-US" b="1" dirty="0"/>
              <a:t>weak or negligible memory effects</a:t>
            </a:r>
            <a:r>
              <a:rPr lang="en-US" dirty="0"/>
              <a:t>, such as narrowband operation or high output back-off</a:t>
            </a:r>
            <a:r>
              <a:rPr lang="en-US" dirty="0" smtClean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96117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ED7819A5-AFE2-FBDE-6BED-F3F7D1A4F1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="" xmlns:a16="http://schemas.microsoft.com/office/drawing/2014/main" id="{B0C9A4AD-2D62-47E7-5421-2BB4BA454F88}"/>
              </a:ext>
            </a:extLst>
          </p:cNvPr>
          <p:cNvSpPr txBox="1"/>
          <p:nvPr/>
        </p:nvSpPr>
        <p:spPr>
          <a:xfrm>
            <a:off x="-1" y="164811"/>
            <a:ext cx="12192000" cy="5847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US" sz="32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sz="3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LSTM</a:t>
            </a:r>
          </a:p>
        </p:txBody>
      </p:sp>
      <p:graphicFrame>
        <p:nvGraphicFramePr>
          <p:cNvPr id="17" name="Table 16">
            <a:extLst>
              <a:ext uri="{FF2B5EF4-FFF2-40B4-BE49-F238E27FC236}">
                <a16:creationId xmlns="" xmlns:a16="http://schemas.microsoft.com/office/drawing/2014/main" id="{C1A11B42-04F5-9CC5-62F2-04F53988D9B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91954614"/>
              </p:ext>
            </p:extLst>
          </p:nvPr>
        </p:nvGraphicFramePr>
        <p:xfrm>
          <a:off x="7480663" y="1854948"/>
          <a:ext cx="3706948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53474">
                  <a:extLst>
                    <a:ext uri="{9D8B030D-6E8A-4147-A177-3AD203B41FA5}">
                      <a16:colId xmlns="" xmlns:a16="http://schemas.microsoft.com/office/drawing/2014/main" val="2624437686"/>
                    </a:ext>
                  </a:extLst>
                </a:gridCol>
                <a:gridCol w="1853474">
                  <a:extLst>
                    <a:ext uri="{9D8B030D-6E8A-4147-A177-3AD203B41FA5}">
                      <a16:colId xmlns="" xmlns:a16="http://schemas.microsoft.com/office/drawing/2014/main" val="758868981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Parameter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Value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="" xmlns:a16="http://schemas.microsoft.com/office/drawing/2014/main" val="389756867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iterations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100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="" xmlns:a16="http://schemas.microsoft.com/office/drawing/2014/main" val="239518582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learning_rate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0.001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="" xmlns:a16="http://schemas.microsoft.com/office/drawing/2014/main" val="267074458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hidden layers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="" xmlns:a16="http://schemas.microsoft.com/office/drawing/2014/main" val="317794882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random_state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42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="" xmlns:a16="http://schemas.microsoft.com/office/drawing/2014/main" val="107261515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early_stopping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-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="" xmlns:a16="http://schemas.microsoft.com/office/drawing/2014/main" val="988649600"/>
                  </a:ext>
                </a:extLst>
              </a:tr>
            </a:tbl>
          </a:graphicData>
        </a:graphic>
      </p:graphicFrame>
      <p:sp>
        <p:nvSpPr>
          <p:cNvPr id="23" name="TextBox 22">
            <a:extLst>
              <a:ext uri="{FF2B5EF4-FFF2-40B4-BE49-F238E27FC236}">
                <a16:creationId xmlns="" xmlns:a16="http://schemas.microsoft.com/office/drawing/2014/main" id="{17B1DBB8-C8DB-3A47-EF6E-04B52019571E}"/>
              </a:ext>
            </a:extLst>
          </p:cNvPr>
          <p:cNvSpPr txBox="1"/>
          <p:nvPr/>
        </p:nvSpPr>
        <p:spPr>
          <a:xfrm>
            <a:off x="332545" y="5189444"/>
            <a:ext cx="1185945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Handles Irregular Time Intervals: </a:t>
            </a:r>
            <a:r>
              <a:rPr lang="en-US" dirty="0"/>
              <a:t>Incorporates time gaps between observations, making it suitable for irregularly spaced data.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Enhanced Temporal Modeling: </a:t>
            </a:r>
            <a:r>
              <a:rPr lang="en-US" dirty="0"/>
              <a:t>Adjusts gate calculations using time information to better capture temporal dependencies.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Ideal for Time-Series Forecasting: </a:t>
            </a:r>
            <a:r>
              <a:rPr lang="en-US" dirty="0"/>
              <a:t>Particularly effective in scenarios where time intervals between data points vary.</a:t>
            </a:r>
          </a:p>
        </p:txBody>
      </p:sp>
      <p:pic>
        <p:nvPicPr>
          <p:cNvPr id="13318" name="Picture 6" descr="Understanding Long Short-Term Memory (LSTM) Networks | Machine Learning  Archive">
            <a:extLst>
              <a:ext uri="{FF2B5EF4-FFF2-40B4-BE49-F238E27FC236}">
                <a16:creationId xmlns="" xmlns:a16="http://schemas.microsoft.com/office/drawing/2014/main" id="{E070FAB1-8A6E-1857-7DC6-4607C261F2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0291" y="1309886"/>
            <a:ext cx="6255940" cy="37083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117010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41ED8AAB-8439-7F9A-9DB6-999E29E449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9EECBD30-C650-141D-8617-F3C18B5A7211}"/>
              </a:ext>
            </a:extLst>
          </p:cNvPr>
          <p:cNvSpPr txBox="1"/>
          <p:nvPr/>
        </p:nvSpPr>
        <p:spPr>
          <a:xfrm>
            <a:off x="-1" y="164811"/>
            <a:ext cx="12192000" cy="5847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US" sz="32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LSTM</a:t>
            </a:r>
            <a:endParaRPr lang="en-US" sz="32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274" t="14224" r="20189" b="5792"/>
          <a:stretch/>
        </p:blipFill>
        <p:spPr>
          <a:xfrm>
            <a:off x="-1" y="914399"/>
            <a:ext cx="7692667" cy="58055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376248" y="1932317"/>
            <a:ext cx="3390181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 smtClean="0"/>
              <a:t>IMPROVEMENT</a:t>
            </a:r>
            <a:r>
              <a:rPr lang="fr-FR" dirty="0" smtClean="0"/>
              <a:t> </a:t>
            </a:r>
          </a:p>
          <a:p>
            <a:r>
              <a:rPr lang="fr-FR" dirty="0" smtClean="0"/>
              <a:t>NMSE </a:t>
            </a:r>
            <a:r>
              <a:rPr lang="fr-FR" dirty="0" err="1"/>
              <a:t>Improvement</a:t>
            </a:r>
            <a:r>
              <a:rPr lang="fr-FR" dirty="0"/>
              <a:t>: 18.59 dB </a:t>
            </a:r>
            <a:endParaRPr lang="fr-FR" dirty="0" smtClean="0"/>
          </a:p>
          <a:p>
            <a:r>
              <a:rPr lang="fr-FR" dirty="0" smtClean="0"/>
              <a:t>EVM </a:t>
            </a:r>
            <a:r>
              <a:rPr lang="fr-FR" dirty="0" err="1"/>
              <a:t>Improvement</a:t>
            </a:r>
            <a:r>
              <a:rPr lang="fr-FR" dirty="0"/>
              <a:t>: 23.58 % </a:t>
            </a:r>
            <a:endParaRPr lang="fr-FR" dirty="0" smtClean="0"/>
          </a:p>
          <a:p>
            <a:r>
              <a:rPr lang="fr-FR" dirty="0" smtClean="0"/>
              <a:t>ACPR </a:t>
            </a:r>
            <a:r>
              <a:rPr lang="fr-FR" dirty="0" err="1"/>
              <a:t>Improvement</a:t>
            </a:r>
            <a:r>
              <a:rPr lang="fr-FR" dirty="0"/>
              <a:t>: -5.34 </a:t>
            </a:r>
            <a:r>
              <a:rPr lang="fr-FR" dirty="0" smtClean="0"/>
              <a:t>dB</a:t>
            </a:r>
          </a:p>
          <a:p>
            <a:endParaRPr lang="fr-FR" dirty="0"/>
          </a:p>
          <a:p>
            <a:r>
              <a:rPr lang="en-US" dirty="0"/>
              <a:t>LSTM-based DPD effectively handles long-term PA memory effects but offers limited advantage over GRU given its higher complexity</a:t>
            </a:r>
            <a:r>
              <a:rPr lang="en-US" dirty="0" smtClean="0"/>
              <a:t>.</a:t>
            </a:r>
          </a:p>
          <a:p>
            <a:endParaRPr lang="en-US" b="1" dirty="0"/>
          </a:p>
          <a:p>
            <a:r>
              <a:rPr lang="en-US" dirty="0"/>
              <a:t>Overall, LSTM offers </a:t>
            </a:r>
            <a:r>
              <a:rPr lang="en-US" b="1" dirty="0"/>
              <a:t>excellent memory modeling capability</a:t>
            </a:r>
            <a:r>
              <a:rPr lang="en-US" dirty="0"/>
              <a:t> but at the expense of increased training and inference complexity.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33440116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622ACA0C-8F1D-2A8C-2C8D-96F16923B2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40941D73-9250-17FE-47FC-E5608FFF970B}"/>
              </a:ext>
            </a:extLst>
          </p:cNvPr>
          <p:cNvSpPr txBox="1"/>
          <p:nvPr/>
        </p:nvSpPr>
        <p:spPr>
          <a:xfrm>
            <a:off x="-1" y="0"/>
            <a:ext cx="12192000" cy="914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US" sz="3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GRU</a:t>
            </a:r>
          </a:p>
        </p:txBody>
      </p:sp>
      <p:pic>
        <p:nvPicPr>
          <p:cNvPr id="2" name="Picture 2" descr="Projects – IISc RBCCPS">
            <a:extLst>
              <a:ext uri="{FF2B5EF4-FFF2-40B4-BE49-F238E27FC236}">
                <a16:creationId xmlns="" xmlns:a16="http://schemas.microsoft.com/office/drawing/2014/main" id="{12173425-A927-7627-7027-D7FF1D12DAA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8235"/>
          <a:stretch/>
        </p:blipFill>
        <p:spPr bwMode="auto">
          <a:xfrm>
            <a:off x="5457560" y="6389773"/>
            <a:ext cx="1276879" cy="4682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5" name="Table 4">
            <a:extLst>
              <a:ext uri="{FF2B5EF4-FFF2-40B4-BE49-F238E27FC236}">
                <a16:creationId xmlns="" xmlns:a16="http://schemas.microsoft.com/office/drawing/2014/main" id="{DACA7ED9-3046-313B-A0B8-4B71A8C3F40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8852634"/>
              </p:ext>
            </p:extLst>
          </p:nvPr>
        </p:nvGraphicFramePr>
        <p:xfrm>
          <a:off x="7480663" y="2068680"/>
          <a:ext cx="3706948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53474">
                  <a:extLst>
                    <a:ext uri="{9D8B030D-6E8A-4147-A177-3AD203B41FA5}">
                      <a16:colId xmlns="" xmlns:a16="http://schemas.microsoft.com/office/drawing/2014/main" val="2624437686"/>
                    </a:ext>
                  </a:extLst>
                </a:gridCol>
                <a:gridCol w="1853474">
                  <a:extLst>
                    <a:ext uri="{9D8B030D-6E8A-4147-A177-3AD203B41FA5}">
                      <a16:colId xmlns="" xmlns:a16="http://schemas.microsoft.com/office/drawing/2014/main" val="758868981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Parameter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Value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="" xmlns:a16="http://schemas.microsoft.com/office/drawing/2014/main" val="389756867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iterations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100 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="" xmlns:a16="http://schemas.microsoft.com/office/drawing/2014/main" val="239518582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learning_rate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0.001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="" xmlns:a16="http://schemas.microsoft.com/office/drawing/2014/main" val="267074458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hidden layer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="" xmlns:a16="http://schemas.microsoft.com/office/drawing/2014/main" val="317794882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random_state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42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="" xmlns:a16="http://schemas.microsoft.com/office/drawing/2014/main" val="107261515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early_stopping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-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="" xmlns:a16="http://schemas.microsoft.com/office/drawing/2014/main" val="988649600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="" xmlns:a16="http://schemas.microsoft.com/office/drawing/2014/main" id="{10D8DA34-7E45-9D69-D66D-5BBD27180E3F}"/>
              </a:ext>
            </a:extLst>
          </p:cNvPr>
          <p:cNvSpPr txBox="1"/>
          <p:nvPr/>
        </p:nvSpPr>
        <p:spPr>
          <a:xfrm>
            <a:off x="219334" y="5187313"/>
            <a:ext cx="11978471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Simplified Recurrent Neural Network: </a:t>
            </a:r>
            <a:r>
              <a:rPr lang="en-US" dirty="0"/>
              <a:t>Similar to LSTM but uses fewer gates, resulting in lower computational cost.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Update and Reset Gates: </a:t>
            </a:r>
            <a:r>
              <a:rPr lang="en-US" dirty="0"/>
              <a:t>Uses these gates to effectively capture dependencies in sequential data.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Efficient for Time-Series Forecasting: </a:t>
            </a:r>
            <a:r>
              <a:rPr lang="en-US" dirty="0"/>
              <a:t>Well-suited for sequential data with faster training compared to LSTMs.</a:t>
            </a:r>
          </a:p>
        </p:txBody>
      </p:sp>
      <p:pic>
        <p:nvPicPr>
          <p:cNvPr id="15362" name="Picture 2" descr="Understanding Gated Recurrent Unit (GRU) in Deep Learning | by Anishnama |  Medium">
            <a:extLst>
              <a:ext uri="{FF2B5EF4-FFF2-40B4-BE49-F238E27FC236}">
                <a16:creationId xmlns="" xmlns:a16="http://schemas.microsoft.com/office/drawing/2014/main" id="{A9CD1CEC-E9A9-CED1-97D5-6F69D1676D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90812" y="1284172"/>
            <a:ext cx="4766445" cy="37635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189660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C6387B7E-5A3C-96EC-82AD-06763D14E7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0F185276-E1AC-8C30-4C6D-A7DB018E012B}"/>
              </a:ext>
            </a:extLst>
          </p:cNvPr>
          <p:cNvSpPr txBox="1"/>
          <p:nvPr/>
        </p:nvSpPr>
        <p:spPr>
          <a:xfrm>
            <a:off x="-1" y="0"/>
            <a:ext cx="12192000" cy="914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US" sz="3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GRU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811" t="13874" r="19897" b="6079"/>
          <a:stretch/>
        </p:blipFill>
        <p:spPr>
          <a:xfrm>
            <a:off x="-3" y="914399"/>
            <a:ext cx="7820149" cy="584008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384875" y="2104844"/>
            <a:ext cx="3807124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 smtClean="0"/>
              <a:t>IMPROVEMENT </a:t>
            </a:r>
          </a:p>
          <a:p>
            <a:r>
              <a:rPr lang="fr-FR" dirty="0" smtClean="0"/>
              <a:t>NMSE </a:t>
            </a:r>
            <a:r>
              <a:rPr lang="fr-FR" dirty="0" err="1"/>
              <a:t>Improvement</a:t>
            </a:r>
            <a:r>
              <a:rPr lang="fr-FR" dirty="0"/>
              <a:t>: 20.19 </a:t>
            </a:r>
            <a:r>
              <a:rPr lang="fr-FR" dirty="0" smtClean="0"/>
              <a:t>dB</a:t>
            </a:r>
          </a:p>
          <a:p>
            <a:r>
              <a:rPr lang="fr-FR" dirty="0" smtClean="0"/>
              <a:t>EVM </a:t>
            </a:r>
            <a:r>
              <a:rPr lang="fr-FR" dirty="0" err="1"/>
              <a:t>Improvement</a:t>
            </a:r>
            <a:r>
              <a:rPr lang="fr-FR" dirty="0"/>
              <a:t>: 24.08 % </a:t>
            </a:r>
            <a:endParaRPr lang="fr-FR" dirty="0" smtClean="0"/>
          </a:p>
          <a:p>
            <a:r>
              <a:rPr lang="fr-FR" dirty="0" smtClean="0"/>
              <a:t>ACPR </a:t>
            </a:r>
            <a:r>
              <a:rPr lang="fr-FR" dirty="0" err="1"/>
              <a:t>Improvement</a:t>
            </a:r>
            <a:r>
              <a:rPr lang="fr-FR" dirty="0"/>
              <a:t>: -4.87 </a:t>
            </a:r>
            <a:r>
              <a:rPr lang="fr-FR" dirty="0" smtClean="0"/>
              <a:t>dB</a:t>
            </a:r>
          </a:p>
          <a:p>
            <a:endParaRPr lang="fr-FR" dirty="0"/>
          </a:p>
          <a:p>
            <a:r>
              <a:rPr lang="en-US" b="1" dirty="0"/>
              <a:t>Best suited for</a:t>
            </a:r>
            <a:r>
              <a:rPr lang="en-US" dirty="0"/>
              <a:t> PAs with </a:t>
            </a:r>
            <a:r>
              <a:rPr lang="en-US" b="1" dirty="0"/>
              <a:t>strong memory effects</a:t>
            </a:r>
            <a:r>
              <a:rPr lang="en-US" dirty="0"/>
              <a:t>, including wideband signals and near-saturation operation</a:t>
            </a:r>
            <a:r>
              <a:rPr lang="en-US" dirty="0" smtClean="0"/>
              <a:t>.</a:t>
            </a:r>
          </a:p>
          <a:p>
            <a:endParaRPr lang="en-US" dirty="0"/>
          </a:p>
          <a:p>
            <a:r>
              <a:rPr lang="en-US" dirty="0"/>
              <a:t>Represents a </a:t>
            </a:r>
            <a:r>
              <a:rPr lang="en-US" b="1" dirty="0"/>
              <a:t>practical and robust DPD architecture</a:t>
            </a:r>
            <a:r>
              <a:rPr lang="en-US" dirty="0"/>
              <a:t> for real-world transmitters requiring strong linearization with manageable computational cost.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74159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7F1ABE87-B55A-DA51-C310-42C27D34EE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53BD7A5A-848A-35A5-8382-8F8F8E1085AD}"/>
              </a:ext>
            </a:extLst>
          </p:cNvPr>
          <p:cNvSpPr txBox="1"/>
          <p:nvPr/>
        </p:nvSpPr>
        <p:spPr>
          <a:xfrm>
            <a:off x="-1" y="164811"/>
            <a:ext cx="12192000" cy="5847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US" sz="3200" dirty="0" err="1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Comparitive</a:t>
            </a:r>
            <a:r>
              <a:rPr lang="en-US" sz="32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Analysis</a:t>
            </a:r>
            <a:endParaRPr lang="en-US" sz="32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16907006"/>
              </p:ext>
            </p:extLst>
          </p:nvPr>
        </p:nvGraphicFramePr>
        <p:xfrm>
          <a:off x="465826" y="1302588"/>
          <a:ext cx="11222964" cy="5129147"/>
        </p:xfrm>
        <a:graphic>
          <a:graphicData uri="http://schemas.openxmlformats.org/drawingml/2006/table">
            <a:tbl>
              <a:tblPr firstRow="1" firstCol="1" bandRow="1">
                <a:tableStyleId>{21E4AEA4-8DFA-4A89-87EB-49C32662AFE0}</a:tableStyleId>
              </a:tblPr>
              <a:tblGrid>
                <a:gridCol w="1870494"/>
                <a:gridCol w="1870494"/>
                <a:gridCol w="1870494"/>
                <a:gridCol w="1505311"/>
                <a:gridCol w="1915064"/>
                <a:gridCol w="2191107"/>
              </a:tblGrid>
              <a:tr h="878022">
                <a:tc>
                  <a:txBody>
                    <a:bodyPr/>
                    <a:lstStyle/>
                    <a:p>
                      <a:r>
                        <a:rPr lang="en-IN" dirty="0"/>
                        <a:t>DPD Model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NMSE Improvement (dB)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EVM Improvement (%)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ACPR Improvement (dB)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Best Suited For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Major Limitation</a:t>
                      </a:r>
                    </a:p>
                  </a:txBody>
                  <a:tcPr anchor="ctr"/>
                </a:tc>
              </a:tr>
              <a:tr h="878022">
                <a:tc>
                  <a:txBody>
                    <a:bodyPr/>
                    <a:lstStyle/>
                    <a:p>
                      <a:r>
                        <a:rPr lang="en-IN" dirty="0"/>
                        <a:t>RNN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10.50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18.00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−11.22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u="none" dirty="0"/>
                        <a:t>Moderate memory effects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Training instability, limited long memory</a:t>
                      </a:r>
                    </a:p>
                  </a:txBody>
                  <a:tcPr anchor="ctr"/>
                </a:tc>
              </a:tr>
              <a:tr h="1032796">
                <a:tc>
                  <a:txBody>
                    <a:bodyPr/>
                    <a:lstStyle/>
                    <a:p>
                      <a:r>
                        <a:rPr lang="en-IN" dirty="0" smtClean="0"/>
                        <a:t>FFD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14.06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21.29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−7.13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Low-memory, narrowband PAs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Poor handling of memory effects</a:t>
                      </a:r>
                    </a:p>
                  </a:txBody>
                  <a:tcPr anchor="ctr"/>
                </a:tc>
              </a:tr>
              <a:tr h="1032796">
                <a:tc>
                  <a:txBody>
                    <a:bodyPr/>
                    <a:lstStyle/>
                    <a:p>
                      <a:r>
                        <a:rPr lang="en-IN" dirty="0"/>
                        <a:t>LSTM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18.59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23.58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−5.34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Long-term memory effects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High complexity, slower training</a:t>
                      </a:r>
                    </a:p>
                  </a:txBody>
                  <a:tcPr anchor="ctr"/>
                </a:tc>
              </a:tr>
              <a:tr h="1271133">
                <a:tc>
                  <a:txBody>
                    <a:bodyPr/>
                    <a:lstStyle/>
                    <a:p>
                      <a:r>
                        <a:rPr lang="en-IN"/>
                        <a:t>GRU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20.19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24.08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−4.87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Strong memory, wideband PAs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Slightly weaker ACPR improvement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770050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B735672F-A5C1-F63A-A3C9-9110A351D0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="" xmlns:a16="http://schemas.microsoft.com/office/drawing/2014/main" id="{38F4D644-F89B-EEF6-A4B6-30201B37022F}"/>
              </a:ext>
            </a:extLst>
          </p:cNvPr>
          <p:cNvSpPr txBox="1"/>
          <p:nvPr/>
        </p:nvSpPr>
        <p:spPr>
          <a:xfrm>
            <a:off x="-1" y="-1"/>
            <a:ext cx="12192000" cy="914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US" sz="3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Conclusion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70B61994-1E53-22C4-B62E-947C4814EEBB}"/>
              </a:ext>
            </a:extLst>
          </p:cNvPr>
          <p:cNvSpPr txBox="1"/>
          <p:nvPr/>
        </p:nvSpPr>
        <p:spPr>
          <a:xfrm>
            <a:off x="783771" y="1645920"/>
            <a:ext cx="11146972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smtClean="0"/>
              <a:t>Deep </a:t>
            </a:r>
            <a:r>
              <a:rPr lang="en-US" dirty="0"/>
              <a:t>learning–based DPD significantly improves PA linearity in terms of NMSE, EVM, and ACPR for 16-QAM signals.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smtClean="0"/>
              <a:t>Feed Forward </a:t>
            </a:r>
            <a:r>
              <a:rPr lang="en-US" dirty="0"/>
              <a:t>DPD is effective for low-memory PAs but fails to adequately suppress memory-induced distortion.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Recurrent architectures outperform </a:t>
            </a:r>
            <a:r>
              <a:rPr lang="en-US" dirty="0" err="1"/>
              <a:t>feedforward</a:t>
            </a:r>
            <a:r>
              <a:rPr lang="en-US" dirty="0"/>
              <a:t> models by explicitly modeling PA memory effects.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GRU-based DPD achieves the </a:t>
            </a:r>
            <a:r>
              <a:rPr lang="en-US" b="1" dirty="0"/>
              <a:t>best overall trade-off</a:t>
            </a:r>
            <a:r>
              <a:rPr lang="en-US" dirty="0"/>
              <a:t>, delivering the highest NMSE and EVM improvements with stable training and moderate complexity.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LSTM provides comparable performance to GRU but at higher computational cost, making it less attractive for practical implementations.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These results highlight that </a:t>
            </a:r>
            <a:r>
              <a:rPr lang="en-US" b="1" dirty="0"/>
              <a:t>DPD architecture selection is critical</a:t>
            </a:r>
            <a:r>
              <a:rPr lang="en-US" dirty="0"/>
              <a:t> and should be guided by PA memory characteristics and system constraints rather than PA modeling alone.</a:t>
            </a:r>
          </a:p>
        </p:txBody>
      </p:sp>
    </p:spTree>
    <p:extLst>
      <p:ext uri="{BB962C8B-B14F-4D97-AF65-F5344CB8AC3E}">
        <p14:creationId xmlns:p14="http://schemas.microsoft.com/office/powerpoint/2010/main" val="39026073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Thank You Ppt Inspiration Master Slide | PowerPoint Presentation Sample |  Example of PPT Presentation | Presentation Background">
            <a:extLst>
              <a:ext uri="{FF2B5EF4-FFF2-40B4-BE49-F238E27FC236}">
                <a16:creationId xmlns="" xmlns:a16="http://schemas.microsoft.com/office/drawing/2014/main" id="{7669B97A-89B4-E9D3-6BD7-5AF9D52B6E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726990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5647</TotalTime>
  <Words>970</Words>
  <Application>Microsoft Office PowerPoint</Application>
  <PresentationFormat>Widescreen</PresentationFormat>
  <Paragraphs>176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Calibri</vt:lpstr>
      <vt:lpstr>Calibri Light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Aditya Anand Gupta</dc:creator>
  <cp:lastModifiedBy>Hp</cp:lastModifiedBy>
  <cp:revision>165</cp:revision>
  <dcterms:created xsi:type="dcterms:W3CDTF">2023-11-25T19:41:14Z</dcterms:created>
  <dcterms:modified xsi:type="dcterms:W3CDTF">2025-12-29T05:25:46Z</dcterms:modified>
</cp:coreProperties>
</file>